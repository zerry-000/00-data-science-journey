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39" r:id="rId32"/>
    <p:sldId id="286" r:id="rId33"/>
    <p:sldId id="287" r:id="rId34"/>
    <p:sldId id="288" r:id="rId35"/>
    <p:sldId id="340" r:id="rId36"/>
    <p:sldId id="342" r:id="rId37"/>
    <p:sldId id="341"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43" r:id="rId52"/>
    <p:sldId id="302" r:id="rId53"/>
    <p:sldId id="303" r:id="rId54"/>
    <p:sldId id="304" r:id="rId55"/>
    <p:sldId id="344" r:id="rId56"/>
    <p:sldId id="305" r:id="rId57"/>
    <p:sldId id="306" r:id="rId58"/>
    <p:sldId id="307" r:id="rId59"/>
    <p:sldId id="308" r:id="rId60"/>
    <p:sldId id="309" r:id="rId61"/>
    <p:sldId id="310" r:id="rId62"/>
    <p:sldId id="345" r:id="rId63"/>
    <p:sldId id="311" r:id="rId64"/>
    <p:sldId id="346"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Lst>
  <p:sldSz cx="12192000" cy="6858000"/>
  <p:notesSz cx="6858000" cy="9144000"/>
  <p:embeddedFontLst>
    <p:embeddedFont>
      <p:font typeface="Anuphan" pitchFamily="2" charset="-34"/>
      <p:regular r:id="rId93"/>
      <p:bold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4660"/>
  </p:normalViewPr>
  <p:slideViewPr>
    <p:cSldViewPr snapToGrid="0">
      <p:cViewPr varScale="1">
        <p:scale>
          <a:sx n="78" d="100"/>
          <a:sy n="78" d="100"/>
        </p:scale>
        <p:origin x="11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fntdata"/><Relationship Id="rId98"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D9DC5-2C38-52B1-6B30-637210A2D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39EA52-64A3-0E6B-E636-95D04779B6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457750-4FE3-07BB-2837-7B7082377600}"/>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32FF291B-C354-C9EB-FAD6-90BFE43F2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39AF5-2772-76A5-2C6A-D4245204F887}"/>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256302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7E95-940F-66A5-69F2-7CD454149C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690EA8-7BC6-7C5E-7DE4-49EEB40FA7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1D1D3-7F91-9F66-4E5B-F9967DE34E85}"/>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67614E2B-57FE-A5EC-07BC-142561EBA6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3CC7C6-A5E5-3065-E78B-41F6C85D22B0}"/>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2675119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2264C-4A71-37C7-7BAF-37D28E66F0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B93D43-7F95-1AFF-8225-283245A8B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0ABAEA-9110-6921-F379-721549556FCF}"/>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DEB63D7B-AB6D-E088-1087-BDFCB4C6DB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131C74-D63D-2ABD-21BA-E480C14EB1CB}"/>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3161619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0C12-7248-2421-EBAB-202F5D9DF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C4487A-65CD-C183-44CD-0F0B6F8CB0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68E4E-0D91-3426-46A3-9546A55D222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9EAB033-B60A-F534-7DE3-DEA1E5C6C1A1}"/>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6" name="Footer Placeholder 5">
            <a:extLst>
              <a:ext uri="{FF2B5EF4-FFF2-40B4-BE49-F238E27FC236}">
                <a16:creationId xmlns:a16="http://schemas.microsoft.com/office/drawing/2014/main" id="{14AE9934-9327-98F1-2DD5-E836B7519B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015F6D-4FF6-AEFE-762E-6DF98C3E1DE5}"/>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2778579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143FD-AA28-3078-0D10-C236013C6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490363-1B38-2AE9-ED3F-859247FE2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2E3EB1-01BA-5997-B66A-EAC6B3E527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824E8A-B7D5-1381-9555-3764C92CDE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2CB8C9-E35D-8E79-EBC6-2E43591E8F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DAE6B2-4FB1-4147-4E3C-30CACDA5CA47}"/>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8" name="Footer Placeholder 7">
            <a:extLst>
              <a:ext uri="{FF2B5EF4-FFF2-40B4-BE49-F238E27FC236}">
                <a16:creationId xmlns:a16="http://schemas.microsoft.com/office/drawing/2014/main" id="{F2B838E4-5FFB-C7B0-7DD8-710F43EC888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C1E14DE-DD51-3883-6219-F0AB3837B376}"/>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2115279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DAEA7-6FE7-D084-E609-0785050A81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A956A2-CE1F-2E2E-3557-74E677B22FA1}"/>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4" name="Footer Placeholder 3">
            <a:extLst>
              <a:ext uri="{FF2B5EF4-FFF2-40B4-BE49-F238E27FC236}">
                <a16:creationId xmlns:a16="http://schemas.microsoft.com/office/drawing/2014/main" id="{80935034-E30C-094B-A2A5-6C04204A59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16F24D-7D03-7468-5514-588344D9E228}"/>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2472005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405D75-6420-36B1-7608-CA6655234DAA}"/>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3" name="Footer Placeholder 2">
            <a:extLst>
              <a:ext uri="{FF2B5EF4-FFF2-40B4-BE49-F238E27FC236}">
                <a16:creationId xmlns:a16="http://schemas.microsoft.com/office/drawing/2014/main" id="{86363592-A0DB-208C-E97F-8833E556FA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FDD102-8D36-7C4C-5AD9-4648CE7B3524}"/>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1279956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3572-F57E-F063-737C-9CAA4C323C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54235A-DB48-0B39-CE3F-44747F4CF7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D91D97F-4B46-723D-FFAD-E6E20ACCFF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E541B4-F377-8076-E4EB-CAC641EFEBB1}"/>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6" name="Footer Placeholder 5">
            <a:extLst>
              <a:ext uri="{FF2B5EF4-FFF2-40B4-BE49-F238E27FC236}">
                <a16:creationId xmlns:a16="http://schemas.microsoft.com/office/drawing/2014/main" id="{2AACF6AB-66E4-E8C5-2922-004D2D79DE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28AE8C-AB63-B778-2302-09B5A0522BF9}"/>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19634054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C2F3E-AB6B-6F7C-D283-E2411B2B70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58B2DB-F80C-1B12-690D-238B768F33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E92BB0-4B05-1DFC-83F0-E4744DA1E3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C9413E-A8C5-9A37-F54D-9CBEA7C495BA}"/>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6" name="Footer Placeholder 5">
            <a:extLst>
              <a:ext uri="{FF2B5EF4-FFF2-40B4-BE49-F238E27FC236}">
                <a16:creationId xmlns:a16="http://schemas.microsoft.com/office/drawing/2014/main" id="{D5E1877F-C6AC-1C87-52FE-BD2F61FEE8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C76E38-A08F-FF95-1786-49C86011DB49}"/>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3394837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90713-5511-4727-7D13-8DC6C6EC57F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0A80F4-23B9-EFB0-AB84-547310C85B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E668FF-3119-53BC-7CF5-C80CBF071004}"/>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2152074E-85AD-2ABD-BB41-80CA9D8A0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E49E1-B0E7-9B61-B1A9-0CEB1EA1BE11}"/>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1489881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8ED978-DA35-03F1-4C5A-E579F67A9D7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D45C79-3A40-CEB7-6E8D-685BB662E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E851E4-DCCA-F45B-03F2-D9F1DF397D9B}"/>
              </a:ext>
            </a:extLst>
          </p:cNvPr>
          <p:cNvSpPr>
            <a:spLocks noGrp="1"/>
          </p:cNvSpPr>
          <p:nvPr>
            <p:ph type="dt" sz="half" idx="10"/>
          </p:nvPr>
        </p:nvSpPr>
        <p:spPr/>
        <p:txBody>
          <a:body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EE14D732-5354-D055-9BB0-FF72E6D707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450F6-B021-2878-3D79-A3D4C52588D2}"/>
              </a:ext>
            </a:extLst>
          </p:cNvPr>
          <p:cNvSpPr>
            <a:spLocks noGrp="1"/>
          </p:cNvSpPr>
          <p:nvPr>
            <p:ph type="sldNum" sz="quarter" idx="12"/>
          </p:nvPr>
        </p:nvSpPr>
        <p:spPr/>
        <p:txBody>
          <a:bodyPr/>
          <a:lstStyle/>
          <a:p>
            <a:fld id="{CB25F4B8-44DD-403A-949B-8B28E0C1615C}" type="slidenum">
              <a:rPr lang="en-US" smtClean="0"/>
              <a:t>‹#›</a:t>
            </a:fld>
            <a:endParaRPr lang="en-US"/>
          </a:p>
        </p:txBody>
      </p:sp>
    </p:spTree>
    <p:extLst>
      <p:ext uri="{BB962C8B-B14F-4D97-AF65-F5344CB8AC3E}">
        <p14:creationId xmlns:p14="http://schemas.microsoft.com/office/powerpoint/2010/main" val="1207648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F575BA-C6D8-A383-81AC-D434E6DCD2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609F685-EF5A-C28E-8756-AB03AE4B21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11C5AF-E6D2-7496-CE63-42C282273F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49BF3A-06AA-4A8E-924F-CCE39BC55DF2}" type="datetimeFigureOut">
              <a:rPr lang="en-US" smtClean="0"/>
              <a:t>4/17/2026</a:t>
            </a:fld>
            <a:endParaRPr lang="en-US"/>
          </a:p>
        </p:txBody>
      </p:sp>
      <p:sp>
        <p:nvSpPr>
          <p:cNvPr id="5" name="Footer Placeholder 4">
            <a:extLst>
              <a:ext uri="{FF2B5EF4-FFF2-40B4-BE49-F238E27FC236}">
                <a16:creationId xmlns:a16="http://schemas.microsoft.com/office/drawing/2014/main" id="{CAA2CCAF-6C8F-8C52-4184-27F345B5D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8D10871-2434-08A1-CB99-55F96AED1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25F4B8-44DD-403A-949B-8B28E0C1615C}" type="slidenum">
              <a:rPr lang="en-US" smtClean="0"/>
              <a:t>‹#›</a:t>
            </a:fld>
            <a:endParaRPr lang="en-US"/>
          </a:p>
        </p:txBody>
      </p:sp>
    </p:spTree>
    <p:extLst>
      <p:ext uri="{BB962C8B-B14F-4D97-AF65-F5344CB8AC3E}">
        <p14:creationId xmlns:p14="http://schemas.microsoft.com/office/powerpoint/2010/main" val="3763356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www.kaggle.com/competitions/titanic/data"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hyperlink" Target="https://pandas.pydata.org/docs/reference/api/pandas.get_dummies.html" TargetMode="Externa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E98A1-EDD8-AA17-D9E3-366E279E07D8}"/>
              </a:ext>
            </a:extLst>
          </p:cNvPr>
          <p:cNvSpPr>
            <a:spLocks noGrp="1"/>
          </p:cNvSpPr>
          <p:nvPr>
            <p:ph type="ctrTitle"/>
          </p:nvPr>
        </p:nvSpPr>
        <p:spPr>
          <a:xfrm>
            <a:off x="1524000" y="2802193"/>
            <a:ext cx="9144000" cy="1408394"/>
          </a:xfrm>
        </p:spPr>
        <p:txBody>
          <a:bodyPr>
            <a:normAutofit/>
          </a:bodyPr>
          <a:lstStyle/>
          <a:p>
            <a:r>
              <a:rPr lang="en-US" sz="8800" b="1" dirty="0">
                <a:solidFill>
                  <a:schemeClr val="tx1">
                    <a:lumMod val="75000"/>
                    <a:lumOff val="25000"/>
                  </a:schemeClr>
                </a:solidFill>
                <a:latin typeface="Anuphan" pitchFamily="2" charset="-34"/>
                <a:cs typeface="Anuphan" pitchFamily="2" charset="-34"/>
              </a:rPr>
              <a:t>Data Science</a:t>
            </a:r>
          </a:p>
        </p:txBody>
      </p:sp>
    </p:spTree>
    <p:extLst>
      <p:ext uri="{BB962C8B-B14F-4D97-AF65-F5344CB8AC3E}">
        <p14:creationId xmlns:p14="http://schemas.microsoft.com/office/powerpoint/2010/main" val="230364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F08EF-6038-20C1-C732-53E1CF5487F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C6FD354-969D-552E-8A9A-A20CF7AAC221}"/>
              </a:ext>
            </a:extLst>
          </p:cNvPr>
          <p:cNvSpPr txBox="1"/>
          <p:nvPr/>
        </p:nvSpPr>
        <p:spPr>
          <a:xfrm>
            <a:off x="1317523" y="2015613"/>
            <a:ext cx="9556954" cy="1631216"/>
          </a:xfrm>
          <a:prstGeom prst="rect">
            <a:avLst/>
          </a:prstGeom>
          <a:noFill/>
        </p:spPr>
        <p:txBody>
          <a:bodyPr wrap="square" rtlCol="0">
            <a:spAutoFit/>
          </a:bodyPr>
          <a:lstStyle/>
          <a:p>
            <a:r>
              <a:rPr lang="en-US" sz="2000" b="1" dirty="0">
                <a:latin typeface="Anuphan" pitchFamily="2" charset="-34"/>
                <a:cs typeface="Anuphan" pitchFamily="2" charset="-34"/>
              </a:rPr>
              <a:t>Data preparation </a:t>
            </a:r>
            <a:r>
              <a:rPr lang="en-US" sz="2000" dirty="0">
                <a:latin typeface="Anuphan" pitchFamily="2" charset="-34"/>
                <a:cs typeface="Anuphan" pitchFamily="2" charset="-34"/>
              </a:rPr>
              <a:t>is one of the most critical steps in any ML pipeline — often taking up </a:t>
            </a:r>
            <a:r>
              <a:rPr lang="en-US" sz="2000" b="1" dirty="0">
                <a:latin typeface="Anuphan" pitchFamily="2" charset="-34"/>
                <a:cs typeface="Anuphan" pitchFamily="2" charset="-34"/>
              </a:rPr>
              <a:t>60–80% of a project's time. </a:t>
            </a:r>
          </a:p>
          <a:p>
            <a:endParaRPr lang="en-US" sz="2000" b="1" dirty="0">
              <a:latin typeface="Anuphan" pitchFamily="2" charset="-34"/>
              <a:cs typeface="Anuphan" pitchFamily="2" charset="-34"/>
            </a:endParaRPr>
          </a:p>
          <a:p>
            <a:r>
              <a:rPr lang="en-US" sz="2000" dirty="0">
                <a:latin typeface="Anuphan" pitchFamily="2" charset="-34"/>
                <a:cs typeface="Anuphan" pitchFamily="2" charset="-34"/>
              </a:rPr>
              <a:t>structured walkthrough of the process:</a:t>
            </a:r>
          </a:p>
          <a:p>
            <a:endParaRPr lang="en-US" sz="2000" dirty="0">
              <a:latin typeface="Anuphan" pitchFamily="2" charset="-34"/>
              <a:cs typeface="Anuphan" pitchFamily="2" charset="-34"/>
            </a:endParaRPr>
          </a:p>
        </p:txBody>
      </p:sp>
      <p:sp>
        <p:nvSpPr>
          <p:cNvPr id="7" name="Title 1">
            <a:extLst>
              <a:ext uri="{FF2B5EF4-FFF2-40B4-BE49-F238E27FC236}">
                <a16:creationId xmlns:a16="http://schemas.microsoft.com/office/drawing/2014/main" id="{2DE8EBBD-9085-C4F1-649E-13BA5A48FDB4}"/>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2626283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D8B98-0514-79F8-701E-450294AD1F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386D0F-C7E5-3F7C-8E34-780B3922B2C8}"/>
              </a:ext>
            </a:extLst>
          </p:cNvPr>
          <p:cNvSpPr txBox="1"/>
          <p:nvPr/>
        </p:nvSpPr>
        <p:spPr>
          <a:xfrm>
            <a:off x="1317523" y="2015613"/>
            <a:ext cx="9556954" cy="1754326"/>
          </a:xfrm>
          <a:prstGeom prst="rect">
            <a:avLst/>
          </a:prstGeom>
          <a:noFill/>
        </p:spPr>
        <p:txBody>
          <a:bodyPr wrap="square" rtlCol="0">
            <a:spAutoFit/>
          </a:bodyPr>
          <a:lstStyle/>
          <a:p>
            <a:r>
              <a:rPr lang="en-US" sz="2800" dirty="0">
                <a:latin typeface="Anuphan" pitchFamily="2" charset="-34"/>
                <a:cs typeface="Anuphan" pitchFamily="2" charset="-34"/>
              </a:rPr>
              <a:t>1. Data Collection</a:t>
            </a:r>
          </a:p>
          <a:p>
            <a:endParaRPr lang="en-US" sz="2000" dirty="0">
              <a:latin typeface="Anuphan" pitchFamily="2" charset="-34"/>
              <a:cs typeface="Anuphan" pitchFamily="2" charset="-34"/>
            </a:endParaRPr>
          </a:p>
          <a:p>
            <a:r>
              <a:rPr lang="en-US" sz="2000" dirty="0">
                <a:latin typeface="Anuphan" pitchFamily="2" charset="-34"/>
                <a:cs typeface="Anuphan" pitchFamily="2" charset="-34"/>
              </a:rPr>
              <a:t>- Gather data from relevant sources (databases, APIs, web scraping, surveys, etc.)</a:t>
            </a:r>
          </a:p>
          <a:p>
            <a:r>
              <a:rPr lang="en-US" sz="2000" dirty="0">
                <a:latin typeface="Anuphan" pitchFamily="2" charset="-34"/>
                <a:cs typeface="Anuphan" pitchFamily="2" charset="-34"/>
              </a:rPr>
              <a:t>- Ensure data is </a:t>
            </a:r>
            <a:r>
              <a:rPr lang="en-US" sz="2000" b="1" dirty="0">
                <a:latin typeface="Anuphan" pitchFamily="2" charset="-34"/>
                <a:cs typeface="Anuphan" pitchFamily="2" charset="-34"/>
              </a:rPr>
              <a:t>representative</a:t>
            </a:r>
            <a:r>
              <a:rPr lang="en-US" sz="2000" dirty="0">
                <a:latin typeface="Anuphan" pitchFamily="2" charset="-34"/>
                <a:cs typeface="Anuphan" pitchFamily="2" charset="-34"/>
              </a:rPr>
              <a:t> of the problem you're solving</a:t>
            </a:r>
          </a:p>
          <a:p>
            <a:r>
              <a:rPr lang="en-US" sz="2000" dirty="0">
                <a:latin typeface="Anuphan" pitchFamily="2" charset="-34"/>
                <a:cs typeface="Anuphan" pitchFamily="2" charset="-34"/>
              </a:rPr>
              <a:t>- Define the target variable (label) early on</a:t>
            </a:r>
          </a:p>
        </p:txBody>
      </p:sp>
      <p:sp>
        <p:nvSpPr>
          <p:cNvPr id="6" name="Title 1">
            <a:extLst>
              <a:ext uri="{FF2B5EF4-FFF2-40B4-BE49-F238E27FC236}">
                <a16:creationId xmlns:a16="http://schemas.microsoft.com/office/drawing/2014/main" id="{E21296E0-467A-B964-8C4F-1604062F9231}"/>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3006376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F818F-F39F-93C7-2BF9-E8552E3F58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2253742-C14D-4F0E-C802-560563DFB468}"/>
              </a:ext>
            </a:extLst>
          </p:cNvPr>
          <p:cNvSpPr txBox="1"/>
          <p:nvPr/>
        </p:nvSpPr>
        <p:spPr>
          <a:xfrm>
            <a:off x="1317523" y="2015613"/>
            <a:ext cx="9556954" cy="1754326"/>
          </a:xfrm>
          <a:prstGeom prst="rect">
            <a:avLst/>
          </a:prstGeom>
          <a:noFill/>
        </p:spPr>
        <p:txBody>
          <a:bodyPr wrap="square" rtlCol="0">
            <a:spAutoFit/>
          </a:bodyPr>
          <a:lstStyle/>
          <a:p>
            <a:r>
              <a:rPr lang="en-US" sz="2800" dirty="0">
                <a:latin typeface="Anuphan" pitchFamily="2" charset="-34"/>
                <a:cs typeface="Anuphan" pitchFamily="2" charset="-34"/>
              </a:rPr>
              <a:t>2.</a:t>
            </a:r>
            <a:r>
              <a:rPr lang="en-US" sz="2800" b="1" dirty="0">
                <a:latin typeface="Anuphan" pitchFamily="2" charset="-34"/>
                <a:cs typeface="Anuphan" pitchFamily="2" charset="-34"/>
              </a:rPr>
              <a:t> </a:t>
            </a:r>
            <a:r>
              <a:rPr lang="en-US" sz="2800" dirty="0">
                <a:latin typeface="Anuphan" pitchFamily="2" charset="-34"/>
                <a:cs typeface="Anuphan" pitchFamily="2" charset="-34"/>
              </a:rPr>
              <a:t>Exploratory Data Analysis (EDA)</a:t>
            </a:r>
          </a:p>
          <a:p>
            <a:endParaRPr lang="en-US" sz="2000" b="1" dirty="0">
              <a:latin typeface="Anuphan" pitchFamily="2" charset="-34"/>
              <a:cs typeface="Anuphan" pitchFamily="2" charset="-34"/>
            </a:endParaRPr>
          </a:p>
          <a:p>
            <a:r>
              <a:rPr lang="en-US" sz="2000" dirty="0">
                <a:latin typeface="Anuphan" pitchFamily="2" charset="-34"/>
                <a:cs typeface="Anuphan" pitchFamily="2" charset="-34"/>
              </a:rPr>
              <a:t>-    Understand the shape, types, and distribution of data</a:t>
            </a:r>
          </a:p>
          <a:p>
            <a:pPr marL="342900" indent="-342900">
              <a:buFontTx/>
              <a:buChar char="-"/>
            </a:pPr>
            <a:r>
              <a:rPr lang="en-US" sz="2000" dirty="0">
                <a:latin typeface="Anuphan" pitchFamily="2" charset="-34"/>
                <a:cs typeface="Anuphan" pitchFamily="2" charset="-34"/>
              </a:rPr>
              <a:t>Identify patterns, correlations, and anomalies</a:t>
            </a:r>
          </a:p>
          <a:p>
            <a:pPr marL="342900" indent="-342900">
              <a:buFontTx/>
              <a:buChar char="-"/>
            </a:pPr>
            <a:r>
              <a:rPr lang="en-US" sz="2000" b="1" dirty="0">
                <a:latin typeface="Anuphan" pitchFamily="2" charset="-34"/>
                <a:cs typeface="Anuphan" pitchFamily="2" charset="-34"/>
              </a:rPr>
              <a:t>Key tools: </a:t>
            </a:r>
            <a:r>
              <a:rPr lang="en-US" sz="2000" dirty="0">
                <a:solidFill>
                  <a:srgbClr val="0070C0"/>
                </a:solidFill>
                <a:latin typeface="Anuphan" pitchFamily="2" charset="-34"/>
                <a:cs typeface="Anuphan" pitchFamily="2" charset="-34"/>
              </a:rPr>
              <a:t>pandas, matplotlib, seaborn, describe(), </a:t>
            </a:r>
            <a:r>
              <a:rPr lang="en-US" sz="2000" dirty="0" err="1">
                <a:solidFill>
                  <a:srgbClr val="0070C0"/>
                </a:solidFill>
                <a:latin typeface="Anuphan" pitchFamily="2" charset="-34"/>
                <a:cs typeface="Anuphan" pitchFamily="2" charset="-34"/>
              </a:rPr>
              <a:t>value_counts</a:t>
            </a:r>
            <a:r>
              <a:rPr lang="en-US" sz="2000" dirty="0">
                <a:solidFill>
                  <a:srgbClr val="0070C0"/>
                </a:solidFill>
                <a:latin typeface="Anuphan" pitchFamily="2" charset="-34"/>
                <a:cs typeface="Anuphan" pitchFamily="2" charset="-34"/>
              </a:rPr>
              <a:t>()</a:t>
            </a:r>
          </a:p>
        </p:txBody>
      </p:sp>
      <p:sp>
        <p:nvSpPr>
          <p:cNvPr id="6" name="Title 1">
            <a:extLst>
              <a:ext uri="{FF2B5EF4-FFF2-40B4-BE49-F238E27FC236}">
                <a16:creationId xmlns:a16="http://schemas.microsoft.com/office/drawing/2014/main" id="{24A9791F-0F1B-DE9D-A820-71F54D94DDC9}"/>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965137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54E0B-1D60-3802-1427-74D3F0CB1D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017F09-40FC-5318-E685-089206721AB5}"/>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3. Data Cleaning</a:t>
            </a:r>
          </a:p>
        </p:txBody>
      </p:sp>
      <p:sp>
        <p:nvSpPr>
          <p:cNvPr id="3" name="TextBox 2">
            <a:extLst>
              <a:ext uri="{FF2B5EF4-FFF2-40B4-BE49-F238E27FC236}">
                <a16:creationId xmlns:a16="http://schemas.microsoft.com/office/drawing/2014/main" id="{0E3DE0EE-8733-1F90-9A98-81FE51A85A6C}"/>
              </a:ext>
            </a:extLst>
          </p:cNvPr>
          <p:cNvSpPr txBox="1"/>
          <p:nvPr/>
        </p:nvSpPr>
        <p:spPr>
          <a:xfrm>
            <a:off x="1317523" y="2538833"/>
            <a:ext cx="9556954" cy="1323439"/>
          </a:xfrm>
          <a:prstGeom prst="rect">
            <a:avLst/>
          </a:prstGeom>
          <a:noFill/>
        </p:spPr>
        <p:txBody>
          <a:bodyPr wrap="square" rtlCol="0">
            <a:spAutoFit/>
          </a:bodyPr>
          <a:lstStyle/>
          <a:p>
            <a:r>
              <a:rPr lang="en-US" sz="2000" b="1" dirty="0">
                <a:solidFill>
                  <a:schemeClr val="tx1">
                    <a:lumMod val="75000"/>
                    <a:lumOff val="25000"/>
                  </a:schemeClr>
                </a:solidFill>
                <a:latin typeface="Anuphan" pitchFamily="2" charset="-34"/>
                <a:cs typeface="Anuphan" pitchFamily="2" charset="-34"/>
              </a:rPr>
              <a:t>Create new features</a:t>
            </a:r>
            <a:r>
              <a:rPr lang="en-US" sz="2000" dirty="0">
                <a:solidFill>
                  <a:schemeClr val="tx1">
                    <a:lumMod val="75000"/>
                    <a:lumOff val="25000"/>
                  </a:schemeClr>
                </a:solidFill>
                <a:latin typeface="Anuphan" pitchFamily="2" charset="-34"/>
                <a:cs typeface="Anuphan" pitchFamily="2" charset="-34"/>
              </a:rPr>
              <a:t> from existing ones (e.g., extracting day/month from a date)</a:t>
            </a:r>
          </a:p>
          <a:p>
            <a:r>
              <a:rPr lang="en-US" sz="2000" b="1" dirty="0">
                <a:solidFill>
                  <a:schemeClr val="tx1">
                    <a:lumMod val="75000"/>
                    <a:lumOff val="25000"/>
                  </a:schemeClr>
                </a:solidFill>
                <a:latin typeface="Anuphan" pitchFamily="2" charset="-34"/>
                <a:cs typeface="Anuphan" pitchFamily="2" charset="-34"/>
              </a:rPr>
              <a:t>Combine features</a:t>
            </a:r>
            <a:r>
              <a:rPr lang="en-US" sz="2000" dirty="0">
                <a:solidFill>
                  <a:schemeClr val="tx1">
                    <a:lumMod val="75000"/>
                    <a:lumOff val="25000"/>
                  </a:schemeClr>
                </a:solidFill>
                <a:latin typeface="Anuphan" pitchFamily="2" charset="-34"/>
                <a:cs typeface="Anuphan" pitchFamily="2" charset="-34"/>
              </a:rPr>
              <a:t> that carry more meaning together</a:t>
            </a:r>
          </a:p>
          <a:p>
            <a:r>
              <a:rPr lang="en-US" sz="2000" b="1" dirty="0">
                <a:solidFill>
                  <a:schemeClr val="tx1">
                    <a:lumMod val="75000"/>
                    <a:lumOff val="25000"/>
                  </a:schemeClr>
                </a:solidFill>
                <a:latin typeface="Anuphan" pitchFamily="2" charset="-34"/>
                <a:cs typeface="Anuphan" pitchFamily="2" charset="-34"/>
              </a:rPr>
              <a:t>Bin continuous variables</a:t>
            </a:r>
            <a:r>
              <a:rPr lang="en-US" sz="2000" dirty="0">
                <a:solidFill>
                  <a:schemeClr val="tx1">
                    <a:lumMod val="75000"/>
                    <a:lumOff val="25000"/>
                  </a:schemeClr>
                </a:solidFill>
                <a:latin typeface="Anuphan" pitchFamily="2" charset="-34"/>
                <a:cs typeface="Anuphan" pitchFamily="2" charset="-34"/>
              </a:rPr>
              <a:t> into categorical ranges when appropriate</a:t>
            </a:r>
          </a:p>
          <a:p>
            <a:r>
              <a:rPr lang="en-US" sz="2000" b="1" dirty="0">
                <a:solidFill>
                  <a:schemeClr val="tx1">
                    <a:lumMod val="75000"/>
                    <a:lumOff val="25000"/>
                  </a:schemeClr>
                </a:solidFill>
                <a:latin typeface="Anuphan" pitchFamily="2" charset="-34"/>
                <a:cs typeface="Anuphan" pitchFamily="2" charset="-34"/>
              </a:rPr>
              <a:t>Polynomial features</a:t>
            </a:r>
            <a:r>
              <a:rPr lang="en-US" sz="2000" dirty="0">
                <a:solidFill>
                  <a:schemeClr val="tx1">
                    <a:lumMod val="75000"/>
                    <a:lumOff val="25000"/>
                  </a:schemeClr>
                </a:solidFill>
                <a:latin typeface="Anuphan" pitchFamily="2" charset="-34"/>
                <a:cs typeface="Anuphan" pitchFamily="2" charset="-34"/>
              </a:rPr>
              <a:t> for capturing non-linear relationships</a:t>
            </a:r>
          </a:p>
        </p:txBody>
      </p:sp>
      <p:sp>
        <p:nvSpPr>
          <p:cNvPr id="9" name="Title 1">
            <a:extLst>
              <a:ext uri="{FF2B5EF4-FFF2-40B4-BE49-F238E27FC236}">
                <a16:creationId xmlns:a16="http://schemas.microsoft.com/office/drawing/2014/main" id="{FC383FA1-0298-4A06-C617-AA38A1E9897D}"/>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1806806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E463C-E77D-603C-CCBC-52FDAEF5359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2DB5E6-3AB0-E63F-81B9-B9F2F1BF5D93}"/>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4. Feature Engineering</a:t>
            </a:r>
          </a:p>
        </p:txBody>
      </p:sp>
      <p:sp>
        <p:nvSpPr>
          <p:cNvPr id="3" name="TextBox 2">
            <a:extLst>
              <a:ext uri="{FF2B5EF4-FFF2-40B4-BE49-F238E27FC236}">
                <a16:creationId xmlns:a16="http://schemas.microsoft.com/office/drawing/2014/main" id="{076D5D19-C353-39D2-2FC5-D3B5C859077B}"/>
              </a:ext>
            </a:extLst>
          </p:cNvPr>
          <p:cNvSpPr txBox="1"/>
          <p:nvPr/>
        </p:nvSpPr>
        <p:spPr>
          <a:xfrm>
            <a:off x="1317523" y="2538833"/>
            <a:ext cx="9556954" cy="1938992"/>
          </a:xfrm>
          <a:prstGeom prst="rect">
            <a:avLst/>
          </a:prstGeom>
          <a:noFill/>
        </p:spPr>
        <p:txBody>
          <a:bodyPr wrap="square" rtlCol="0">
            <a:spAutoFit/>
          </a:bodyPr>
          <a:lstStyle/>
          <a:p>
            <a:r>
              <a:rPr lang="en-US" sz="2000" b="1" dirty="0">
                <a:solidFill>
                  <a:schemeClr val="tx1">
                    <a:lumMod val="75000"/>
                    <a:lumOff val="25000"/>
                  </a:schemeClr>
                </a:solidFill>
                <a:latin typeface="Anuphan" pitchFamily="2" charset="-34"/>
                <a:cs typeface="Anuphan" pitchFamily="2" charset="-34"/>
              </a:rPr>
              <a:t>Handle missing values</a:t>
            </a:r>
            <a:r>
              <a:rPr lang="en-US" sz="2000" dirty="0">
                <a:solidFill>
                  <a:schemeClr val="tx1">
                    <a:lumMod val="75000"/>
                    <a:lumOff val="25000"/>
                  </a:schemeClr>
                </a:solidFill>
                <a:latin typeface="Anuphan" pitchFamily="2" charset="-34"/>
                <a:cs typeface="Anuphan" pitchFamily="2" charset="-34"/>
              </a:rPr>
              <a:t> — drop rows/columns, or impute using mean, median, mode, or model-based methods</a:t>
            </a:r>
          </a:p>
          <a:p>
            <a:r>
              <a:rPr lang="en-US" sz="2000" b="1" dirty="0">
                <a:solidFill>
                  <a:schemeClr val="tx1">
                    <a:lumMod val="75000"/>
                    <a:lumOff val="25000"/>
                  </a:schemeClr>
                </a:solidFill>
                <a:latin typeface="Anuphan" pitchFamily="2" charset="-34"/>
                <a:cs typeface="Anuphan" pitchFamily="2" charset="-34"/>
              </a:rPr>
              <a:t>Remove duplicates</a:t>
            </a:r>
            <a:r>
              <a:rPr lang="en-US" sz="2000" dirty="0">
                <a:solidFill>
                  <a:schemeClr val="tx1">
                    <a:lumMod val="75000"/>
                    <a:lumOff val="25000"/>
                  </a:schemeClr>
                </a:solidFill>
                <a:latin typeface="Anuphan" pitchFamily="2" charset="-34"/>
                <a:cs typeface="Anuphan" pitchFamily="2" charset="-34"/>
              </a:rPr>
              <a:t> — detect and eliminate redundant records</a:t>
            </a:r>
          </a:p>
          <a:p>
            <a:r>
              <a:rPr lang="en-US" sz="2000" b="1" dirty="0">
                <a:solidFill>
                  <a:schemeClr val="tx1">
                    <a:lumMod val="75000"/>
                    <a:lumOff val="25000"/>
                  </a:schemeClr>
                </a:solidFill>
                <a:latin typeface="Anuphan" pitchFamily="2" charset="-34"/>
                <a:cs typeface="Anuphan" pitchFamily="2" charset="-34"/>
              </a:rPr>
              <a:t>Fix inconsistencies</a:t>
            </a:r>
            <a:r>
              <a:rPr lang="en-US" sz="2000" dirty="0">
                <a:solidFill>
                  <a:schemeClr val="tx1">
                    <a:lumMod val="75000"/>
                    <a:lumOff val="25000"/>
                  </a:schemeClr>
                </a:solidFill>
                <a:latin typeface="Anuphan" pitchFamily="2" charset="-34"/>
                <a:cs typeface="Anuphan" pitchFamily="2" charset="-34"/>
              </a:rPr>
              <a:t> — standardize formats (dates, units, categories)</a:t>
            </a:r>
          </a:p>
          <a:p>
            <a:r>
              <a:rPr lang="en-US" sz="2000" b="1" dirty="0">
                <a:solidFill>
                  <a:schemeClr val="tx1">
                    <a:lumMod val="75000"/>
                    <a:lumOff val="25000"/>
                  </a:schemeClr>
                </a:solidFill>
                <a:latin typeface="Anuphan" pitchFamily="2" charset="-34"/>
                <a:cs typeface="Anuphan" pitchFamily="2" charset="-34"/>
              </a:rPr>
              <a:t>Handle outliers</a:t>
            </a:r>
            <a:r>
              <a:rPr lang="en-US" sz="2000" dirty="0">
                <a:solidFill>
                  <a:schemeClr val="tx1">
                    <a:lumMod val="75000"/>
                    <a:lumOff val="25000"/>
                  </a:schemeClr>
                </a:solidFill>
                <a:latin typeface="Anuphan" pitchFamily="2" charset="-34"/>
                <a:cs typeface="Anuphan" pitchFamily="2" charset="-34"/>
              </a:rPr>
              <a:t> — detect using IQR/Z-score, then cap, remove, or transform them</a:t>
            </a:r>
          </a:p>
          <a:p>
            <a:r>
              <a:rPr lang="en-US" sz="2000" b="1" dirty="0">
                <a:solidFill>
                  <a:schemeClr val="tx1">
                    <a:lumMod val="75000"/>
                    <a:lumOff val="25000"/>
                  </a:schemeClr>
                </a:solidFill>
                <a:latin typeface="Anuphan" pitchFamily="2" charset="-34"/>
                <a:cs typeface="Anuphan" pitchFamily="2" charset="-34"/>
              </a:rPr>
              <a:t>Correct errors</a:t>
            </a:r>
            <a:r>
              <a:rPr lang="en-US" sz="2000" dirty="0">
                <a:solidFill>
                  <a:schemeClr val="tx1">
                    <a:lumMod val="75000"/>
                    <a:lumOff val="25000"/>
                  </a:schemeClr>
                </a:solidFill>
                <a:latin typeface="Anuphan" pitchFamily="2" charset="-34"/>
                <a:cs typeface="Anuphan" pitchFamily="2" charset="-34"/>
              </a:rPr>
              <a:t> — fix typos, wrong labels, or impossible values</a:t>
            </a:r>
          </a:p>
        </p:txBody>
      </p:sp>
      <p:sp>
        <p:nvSpPr>
          <p:cNvPr id="7" name="Title 1">
            <a:extLst>
              <a:ext uri="{FF2B5EF4-FFF2-40B4-BE49-F238E27FC236}">
                <a16:creationId xmlns:a16="http://schemas.microsoft.com/office/drawing/2014/main" id="{6848DF2F-339A-11A4-8E09-A51051E9BD94}"/>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69124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24FB4-148B-FCCA-938F-B4AD36FE1F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605198-DB49-2924-802D-1013A8053A49}"/>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5. Data Transformation</a:t>
            </a:r>
          </a:p>
        </p:txBody>
      </p:sp>
      <p:sp>
        <p:nvSpPr>
          <p:cNvPr id="3" name="TextBox 2">
            <a:extLst>
              <a:ext uri="{FF2B5EF4-FFF2-40B4-BE49-F238E27FC236}">
                <a16:creationId xmlns:a16="http://schemas.microsoft.com/office/drawing/2014/main" id="{775BAD61-B091-1F6C-5B34-CD5A9066C5DB}"/>
              </a:ext>
            </a:extLst>
          </p:cNvPr>
          <p:cNvSpPr txBox="1"/>
          <p:nvPr/>
        </p:nvSpPr>
        <p:spPr>
          <a:xfrm>
            <a:off x="1317523" y="2538833"/>
            <a:ext cx="9556954" cy="3170099"/>
          </a:xfrm>
          <a:prstGeom prst="rect">
            <a:avLst/>
          </a:prstGeom>
          <a:noFill/>
        </p:spPr>
        <p:txBody>
          <a:bodyPr wrap="square" rtlCol="0">
            <a:spAutoFit/>
          </a:bodyPr>
          <a:lstStyle/>
          <a:p>
            <a:r>
              <a:rPr lang="en-US" sz="2000" dirty="0">
                <a:solidFill>
                  <a:schemeClr val="tx1">
                    <a:lumMod val="75000"/>
                    <a:lumOff val="25000"/>
                  </a:schemeClr>
                </a:solidFill>
                <a:latin typeface="Anuphan" pitchFamily="2" charset="-34"/>
                <a:cs typeface="Anuphan" pitchFamily="2" charset="-34"/>
              </a:rPr>
              <a:t>•  </a:t>
            </a:r>
            <a:r>
              <a:rPr lang="en-US" sz="2000" b="1" dirty="0">
                <a:solidFill>
                  <a:schemeClr val="tx1">
                    <a:lumMod val="75000"/>
                    <a:lumOff val="25000"/>
                  </a:schemeClr>
                </a:solidFill>
                <a:latin typeface="Anuphan" pitchFamily="2" charset="-34"/>
                <a:cs typeface="Anuphan" pitchFamily="2" charset="-34"/>
              </a:rPr>
              <a:t>Encoding categorical variables: </a:t>
            </a:r>
          </a:p>
          <a:p>
            <a:r>
              <a:rPr lang="en-US" sz="2000" dirty="0">
                <a:solidFill>
                  <a:schemeClr val="tx1">
                    <a:lumMod val="75000"/>
                    <a:lumOff val="25000"/>
                  </a:schemeClr>
                </a:solidFill>
                <a:latin typeface="Anuphan" pitchFamily="2" charset="-34"/>
                <a:cs typeface="Anuphan" pitchFamily="2" charset="-34"/>
              </a:rPr>
              <a:t>	 • Label Encoding — for ordinal categories</a:t>
            </a:r>
          </a:p>
          <a:p>
            <a:r>
              <a:rPr lang="en-US" sz="2000" dirty="0">
                <a:solidFill>
                  <a:schemeClr val="tx1">
                    <a:lumMod val="75000"/>
                    <a:lumOff val="25000"/>
                  </a:schemeClr>
                </a:solidFill>
                <a:latin typeface="Anuphan" pitchFamily="2" charset="-34"/>
                <a:cs typeface="Anuphan" pitchFamily="2" charset="-34"/>
              </a:rPr>
              <a:t>	 • One-Hot Encoding — for nominal categories</a:t>
            </a:r>
          </a:p>
          <a:p>
            <a:r>
              <a:rPr lang="en-US" sz="2000" dirty="0">
                <a:solidFill>
                  <a:schemeClr val="tx1">
                    <a:lumMod val="75000"/>
                    <a:lumOff val="25000"/>
                  </a:schemeClr>
                </a:solidFill>
                <a:latin typeface="Anuphan" pitchFamily="2" charset="-34"/>
                <a:cs typeface="Anuphan" pitchFamily="2" charset="-34"/>
              </a:rPr>
              <a:t>•  </a:t>
            </a:r>
            <a:r>
              <a:rPr lang="en-US" sz="2000" b="1" dirty="0">
                <a:solidFill>
                  <a:schemeClr val="tx1">
                    <a:lumMod val="75000"/>
                    <a:lumOff val="25000"/>
                  </a:schemeClr>
                </a:solidFill>
                <a:latin typeface="Anuphan" pitchFamily="2" charset="-34"/>
                <a:cs typeface="Anuphan" pitchFamily="2" charset="-34"/>
              </a:rPr>
              <a:t>Scaling/Normalization: </a:t>
            </a:r>
          </a:p>
          <a:p>
            <a:r>
              <a:rPr lang="en-US" sz="2000" dirty="0">
                <a:solidFill>
                  <a:schemeClr val="tx1">
                    <a:lumMod val="75000"/>
                    <a:lumOff val="25000"/>
                  </a:schemeClr>
                </a:solidFill>
                <a:latin typeface="Anuphan" pitchFamily="2" charset="-34"/>
                <a:cs typeface="Anuphan" pitchFamily="2" charset="-34"/>
              </a:rPr>
              <a:t>	 • Min-Max Scaling — scales to [0, 1]</a:t>
            </a:r>
          </a:p>
          <a:p>
            <a:r>
              <a:rPr lang="en-US" sz="2000" dirty="0">
                <a:solidFill>
                  <a:schemeClr val="tx1">
                    <a:lumMod val="75000"/>
                    <a:lumOff val="25000"/>
                  </a:schemeClr>
                </a:solidFill>
                <a:latin typeface="Anuphan" pitchFamily="2" charset="-34"/>
                <a:cs typeface="Anuphan" pitchFamily="2" charset="-34"/>
              </a:rPr>
              <a:t>	 • Standardization (Z-score) — mean=0, std=1</a:t>
            </a:r>
          </a:p>
          <a:p>
            <a:r>
              <a:rPr lang="en-US" sz="2000" dirty="0">
                <a:solidFill>
                  <a:schemeClr val="tx1">
                    <a:lumMod val="75000"/>
                    <a:lumOff val="25000"/>
                  </a:schemeClr>
                </a:solidFill>
                <a:latin typeface="Anuphan" pitchFamily="2" charset="-34"/>
                <a:cs typeface="Anuphan" pitchFamily="2" charset="-34"/>
              </a:rPr>
              <a:t>	 • Log Transform — for skewed distributions</a:t>
            </a:r>
          </a:p>
          <a:p>
            <a:r>
              <a:rPr lang="en-US" sz="2000" dirty="0">
                <a:solidFill>
                  <a:schemeClr val="tx1">
                    <a:lumMod val="75000"/>
                    <a:lumOff val="25000"/>
                  </a:schemeClr>
                </a:solidFill>
                <a:latin typeface="Anuphan" pitchFamily="2" charset="-34"/>
                <a:cs typeface="Anuphan" pitchFamily="2" charset="-34"/>
              </a:rPr>
              <a:t>•  </a:t>
            </a:r>
            <a:r>
              <a:rPr lang="en-US" sz="2000" b="1" dirty="0">
                <a:solidFill>
                  <a:schemeClr val="tx1">
                    <a:lumMod val="75000"/>
                    <a:lumOff val="25000"/>
                  </a:schemeClr>
                </a:solidFill>
                <a:latin typeface="Anuphan" pitchFamily="2" charset="-34"/>
                <a:cs typeface="Anuphan" pitchFamily="2" charset="-34"/>
              </a:rPr>
              <a:t>Text data </a:t>
            </a:r>
            <a:r>
              <a:rPr lang="en-US" sz="2000" dirty="0">
                <a:solidFill>
                  <a:schemeClr val="tx1">
                    <a:lumMod val="75000"/>
                    <a:lumOff val="25000"/>
                  </a:schemeClr>
                </a:solidFill>
                <a:latin typeface="Anuphan" pitchFamily="2" charset="-34"/>
                <a:cs typeface="Anuphan" pitchFamily="2" charset="-34"/>
              </a:rPr>
              <a:t>— tokenization, stemming, TF-IDF, embeddings </a:t>
            </a:r>
          </a:p>
          <a:p>
            <a:r>
              <a:rPr lang="en-US" sz="2000" dirty="0">
                <a:solidFill>
                  <a:schemeClr val="tx1">
                    <a:lumMod val="75000"/>
                    <a:lumOff val="25000"/>
                  </a:schemeClr>
                </a:solidFill>
                <a:latin typeface="Anuphan" pitchFamily="2" charset="-34"/>
                <a:cs typeface="Anuphan" pitchFamily="2" charset="-34"/>
              </a:rPr>
              <a:t>•  </a:t>
            </a:r>
            <a:r>
              <a:rPr lang="en-US" sz="2000" b="1" dirty="0">
                <a:solidFill>
                  <a:schemeClr val="tx1">
                    <a:lumMod val="75000"/>
                    <a:lumOff val="25000"/>
                  </a:schemeClr>
                </a:solidFill>
                <a:latin typeface="Anuphan" pitchFamily="2" charset="-34"/>
                <a:cs typeface="Anuphan" pitchFamily="2" charset="-34"/>
              </a:rPr>
              <a:t>Image data </a:t>
            </a:r>
            <a:r>
              <a:rPr lang="en-US" sz="2000" dirty="0">
                <a:solidFill>
                  <a:schemeClr val="tx1">
                    <a:lumMod val="75000"/>
                    <a:lumOff val="25000"/>
                  </a:schemeClr>
                </a:solidFill>
                <a:latin typeface="Anuphan" pitchFamily="2" charset="-34"/>
                <a:cs typeface="Anuphan" pitchFamily="2" charset="-34"/>
              </a:rPr>
              <a:t>— resizing, normalization, augmentation</a:t>
            </a:r>
          </a:p>
          <a:p>
            <a:endParaRPr lang="en-US" sz="2000" dirty="0">
              <a:solidFill>
                <a:schemeClr val="tx1">
                  <a:lumMod val="75000"/>
                  <a:lumOff val="25000"/>
                </a:schemeClr>
              </a:solidFill>
              <a:latin typeface="Anuphan" pitchFamily="2" charset="-34"/>
              <a:cs typeface="Anuphan" pitchFamily="2" charset="-34"/>
            </a:endParaRPr>
          </a:p>
        </p:txBody>
      </p:sp>
      <p:sp>
        <p:nvSpPr>
          <p:cNvPr id="15" name="Title 1">
            <a:extLst>
              <a:ext uri="{FF2B5EF4-FFF2-40B4-BE49-F238E27FC236}">
                <a16:creationId xmlns:a16="http://schemas.microsoft.com/office/drawing/2014/main" id="{4A2924A2-8468-06BA-31B6-00A20E213A35}"/>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126641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E2490-7944-13B8-4883-9EBF7B78276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EEF96F-8C26-43BB-F229-56AF6CCD6AE8}"/>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6. Feature Selection</a:t>
            </a:r>
          </a:p>
        </p:txBody>
      </p:sp>
      <p:sp>
        <p:nvSpPr>
          <p:cNvPr id="3" name="TextBox 2">
            <a:extLst>
              <a:ext uri="{FF2B5EF4-FFF2-40B4-BE49-F238E27FC236}">
                <a16:creationId xmlns:a16="http://schemas.microsoft.com/office/drawing/2014/main" id="{26E33390-17A3-8359-444F-2C0DFE16EE7B}"/>
              </a:ext>
            </a:extLst>
          </p:cNvPr>
          <p:cNvSpPr txBox="1"/>
          <p:nvPr/>
        </p:nvSpPr>
        <p:spPr>
          <a:xfrm>
            <a:off x="1317523" y="2538833"/>
            <a:ext cx="9556954" cy="2308324"/>
          </a:xfrm>
          <a:prstGeom prst="rect">
            <a:avLst/>
          </a:prstGeom>
          <a:noFill/>
        </p:spPr>
        <p:txBody>
          <a:bodyPr wrap="square" rtlCol="0">
            <a:spAutoFit/>
          </a:bodyPr>
          <a:lstStyle/>
          <a:p>
            <a:r>
              <a:rPr lang="en-US" dirty="0">
                <a:solidFill>
                  <a:schemeClr val="tx1">
                    <a:lumMod val="75000"/>
                    <a:lumOff val="25000"/>
                  </a:schemeClr>
                </a:solidFill>
                <a:latin typeface="Anuphan" pitchFamily="2" charset="-34"/>
                <a:cs typeface="Anuphan" pitchFamily="2" charset="-34"/>
              </a:rPr>
              <a:t>-   Remove irrelevant or redundant features to reduce noise and overfitting </a:t>
            </a:r>
          </a:p>
          <a:p>
            <a:r>
              <a:rPr lang="en-US" dirty="0">
                <a:solidFill>
                  <a:schemeClr val="tx1">
                    <a:lumMod val="75000"/>
                    <a:lumOff val="25000"/>
                  </a:schemeClr>
                </a:solidFill>
                <a:latin typeface="Anuphan" pitchFamily="2" charset="-34"/>
                <a:cs typeface="Anuphan" pitchFamily="2" charset="-34"/>
              </a:rPr>
              <a:t>-   Techniques: </a:t>
            </a:r>
          </a:p>
          <a:p>
            <a:pPr lvl="0"/>
            <a:r>
              <a:rPr lang="en-US" b="1" dirty="0">
                <a:solidFill>
                  <a:schemeClr val="tx1">
                    <a:lumMod val="75000"/>
                    <a:lumOff val="25000"/>
                  </a:schemeClr>
                </a:solidFill>
                <a:latin typeface="Anuphan" pitchFamily="2" charset="-34"/>
                <a:cs typeface="Anuphan" pitchFamily="2" charset="-34"/>
              </a:rPr>
              <a:t>Filter methods</a:t>
            </a:r>
            <a:r>
              <a:rPr lang="en-US" dirty="0">
                <a:solidFill>
                  <a:schemeClr val="tx1">
                    <a:lumMod val="75000"/>
                    <a:lumOff val="25000"/>
                  </a:schemeClr>
                </a:solidFill>
                <a:latin typeface="Anuphan" pitchFamily="2" charset="-34"/>
                <a:cs typeface="Anuphan" pitchFamily="2" charset="-34"/>
              </a:rPr>
              <a:t> — correlation, chi-square, variance threshold</a:t>
            </a:r>
          </a:p>
          <a:p>
            <a:pPr lvl="0"/>
            <a:r>
              <a:rPr lang="en-US" b="1" dirty="0">
                <a:solidFill>
                  <a:schemeClr val="tx1">
                    <a:lumMod val="75000"/>
                    <a:lumOff val="25000"/>
                  </a:schemeClr>
                </a:solidFill>
                <a:latin typeface="Anuphan" pitchFamily="2" charset="-34"/>
                <a:cs typeface="Anuphan" pitchFamily="2" charset="-34"/>
              </a:rPr>
              <a:t>Wrapper methods</a:t>
            </a:r>
            <a:r>
              <a:rPr lang="en-US" dirty="0">
                <a:solidFill>
                  <a:schemeClr val="tx1">
                    <a:lumMod val="75000"/>
                    <a:lumOff val="25000"/>
                  </a:schemeClr>
                </a:solidFill>
                <a:latin typeface="Anuphan" pitchFamily="2" charset="-34"/>
                <a:cs typeface="Anuphan" pitchFamily="2" charset="-34"/>
              </a:rPr>
              <a:t> — RFE (Recursive Feature Elimination)</a:t>
            </a:r>
          </a:p>
          <a:p>
            <a:pPr lvl="0"/>
            <a:r>
              <a:rPr lang="en-US" b="1" dirty="0">
                <a:solidFill>
                  <a:schemeClr val="tx1">
                    <a:lumMod val="75000"/>
                    <a:lumOff val="25000"/>
                  </a:schemeClr>
                </a:solidFill>
                <a:latin typeface="Anuphan" pitchFamily="2" charset="-34"/>
                <a:cs typeface="Anuphan" pitchFamily="2" charset="-34"/>
              </a:rPr>
              <a:t>Embedded methods</a:t>
            </a:r>
            <a:r>
              <a:rPr lang="en-US" dirty="0">
                <a:solidFill>
                  <a:schemeClr val="tx1">
                    <a:lumMod val="75000"/>
                    <a:lumOff val="25000"/>
                  </a:schemeClr>
                </a:solidFill>
                <a:latin typeface="Anuphan" pitchFamily="2" charset="-34"/>
                <a:cs typeface="Anuphan" pitchFamily="2" charset="-34"/>
              </a:rPr>
              <a:t> — Lasso, feature importance from tree models</a:t>
            </a:r>
          </a:p>
          <a:p>
            <a:r>
              <a:rPr lang="en-US" dirty="0">
                <a:solidFill>
                  <a:schemeClr val="tx1">
                    <a:lumMod val="75000"/>
                    <a:lumOff val="25000"/>
                  </a:schemeClr>
                </a:solidFill>
                <a:latin typeface="Anuphan" pitchFamily="2" charset="-34"/>
                <a:cs typeface="Anuphan" pitchFamily="2" charset="-34"/>
              </a:rPr>
              <a:t> </a:t>
            </a:r>
          </a:p>
          <a:p>
            <a:endParaRPr lang="en-US" dirty="0">
              <a:solidFill>
                <a:schemeClr val="tx1">
                  <a:lumMod val="75000"/>
                  <a:lumOff val="25000"/>
                </a:schemeClr>
              </a:solidFill>
              <a:latin typeface="Anuphan" pitchFamily="2" charset="-34"/>
              <a:cs typeface="Anuphan" pitchFamily="2" charset="-34"/>
            </a:endParaRPr>
          </a:p>
          <a:p>
            <a:r>
              <a:rPr lang="en-US" dirty="0">
                <a:solidFill>
                  <a:schemeClr val="tx1">
                    <a:lumMod val="75000"/>
                    <a:lumOff val="25000"/>
                  </a:schemeClr>
                </a:solidFill>
                <a:latin typeface="Anuphan" pitchFamily="2" charset="-34"/>
                <a:cs typeface="Anuphan" pitchFamily="2" charset="-34"/>
              </a:rPr>
              <a:t>** feature is a variable</a:t>
            </a:r>
          </a:p>
        </p:txBody>
      </p:sp>
      <p:sp>
        <p:nvSpPr>
          <p:cNvPr id="8" name="Title 1">
            <a:extLst>
              <a:ext uri="{FF2B5EF4-FFF2-40B4-BE49-F238E27FC236}">
                <a16:creationId xmlns:a16="http://schemas.microsoft.com/office/drawing/2014/main" id="{29AFB414-823D-A132-CC87-05308A7A11EC}"/>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746068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14513-0470-1CEE-999D-F056F370422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9B1EC7F-E3DC-6012-EC35-C188F66F739E}"/>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7. Handling Class Imbalance</a:t>
            </a:r>
          </a:p>
        </p:txBody>
      </p:sp>
      <p:sp>
        <p:nvSpPr>
          <p:cNvPr id="3" name="TextBox 2">
            <a:extLst>
              <a:ext uri="{FF2B5EF4-FFF2-40B4-BE49-F238E27FC236}">
                <a16:creationId xmlns:a16="http://schemas.microsoft.com/office/drawing/2014/main" id="{3CB375F7-3555-AADC-2F69-914803789EEE}"/>
              </a:ext>
            </a:extLst>
          </p:cNvPr>
          <p:cNvSpPr txBox="1"/>
          <p:nvPr/>
        </p:nvSpPr>
        <p:spPr>
          <a:xfrm>
            <a:off x="1317523" y="2538833"/>
            <a:ext cx="9556954" cy="1754326"/>
          </a:xfrm>
          <a:prstGeom prst="rect">
            <a:avLst/>
          </a:prstGeom>
          <a:noFill/>
        </p:spPr>
        <p:txBody>
          <a:bodyPr wrap="square" rtlCol="0">
            <a:spAutoFit/>
          </a:bodyPr>
          <a:lstStyle/>
          <a:p>
            <a:r>
              <a:rPr lang="en-US" dirty="0">
                <a:solidFill>
                  <a:schemeClr val="tx1">
                    <a:lumMod val="75000"/>
                    <a:lumOff val="25000"/>
                  </a:schemeClr>
                </a:solidFill>
                <a:latin typeface="Anuphan" pitchFamily="2" charset="-34"/>
                <a:cs typeface="Anuphan" pitchFamily="2" charset="-34"/>
              </a:rPr>
              <a:t>Applies to classification problems with skewed class distribution</a:t>
            </a:r>
          </a:p>
          <a:p>
            <a:r>
              <a:rPr lang="en-US" dirty="0">
                <a:solidFill>
                  <a:schemeClr val="tx1">
                    <a:lumMod val="75000"/>
                    <a:lumOff val="25000"/>
                  </a:schemeClr>
                </a:solidFill>
                <a:latin typeface="Anuphan" pitchFamily="2" charset="-34"/>
                <a:cs typeface="Anuphan" pitchFamily="2" charset="-34"/>
              </a:rPr>
              <a:t>Strategies:</a:t>
            </a:r>
          </a:p>
          <a:p>
            <a:r>
              <a:rPr lang="en-US" dirty="0">
                <a:solidFill>
                  <a:schemeClr val="tx1">
                    <a:lumMod val="75000"/>
                    <a:lumOff val="25000"/>
                  </a:schemeClr>
                </a:solidFill>
                <a:latin typeface="Anuphan" pitchFamily="2" charset="-34"/>
                <a:cs typeface="Anuphan" pitchFamily="2" charset="-34"/>
              </a:rPr>
              <a:t> </a:t>
            </a:r>
          </a:p>
          <a:p>
            <a:r>
              <a:rPr lang="en-US" b="1" dirty="0">
                <a:solidFill>
                  <a:schemeClr val="tx1">
                    <a:lumMod val="75000"/>
                    <a:lumOff val="25000"/>
                  </a:schemeClr>
                </a:solidFill>
                <a:latin typeface="Anuphan" pitchFamily="2" charset="-34"/>
                <a:cs typeface="Anuphan" pitchFamily="2" charset="-34"/>
              </a:rPr>
              <a:t>Oversampling</a:t>
            </a:r>
            <a:r>
              <a:rPr lang="en-US" dirty="0">
                <a:solidFill>
                  <a:schemeClr val="tx1">
                    <a:lumMod val="75000"/>
                    <a:lumOff val="25000"/>
                  </a:schemeClr>
                </a:solidFill>
                <a:latin typeface="Anuphan" pitchFamily="2" charset="-34"/>
                <a:cs typeface="Anuphan" pitchFamily="2" charset="-34"/>
              </a:rPr>
              <a:t> — SMOTE, random oversampling</a:t>
            </a:r>
          </a:p>
          <a:p>
            <a:r>
              <a:rPr lang="en-US" b="1" dirty="0" err="1">
                <a:solidFill>
                  <a:schemeClr val="tx1">
                    <a:lumMod val="75000"/>
                    <a:lumOff val="25000"/>
                  </a:schemeClr>
                </a:solidFill>
                <a:latin typeface="Anuphan" pitchFamily="2" charset="-34"/>
                <a:cs typeface="Anuphan" pitchFamily="2" charset="-34"/>
              </a:rPr>
              <a:t>Undersampling</a:t>
            </a:r>
            <a:r>
              <a:rPr lang="en-US" dirty="0">
                <a:solidFill>
                  <a:schemeClr val="tx1">
                    <a:lumMod val="75000"/>
                    <a:lumOff val="25000"/>
                  </a:schemeClr>
                </a:solidFill>
                <a:latin typeface="Anuphan" pitchFamily="2" charset="-34"/>
                <a:cs typeface="Anuphan" pitchFamily="2" charset="-34"/>
              </a:rPr>
              <a:t> — reduce majority class</a:t>
            </a:r>
          </a:p>
          <a:p>
            <a:r>
              <a:rPr lang="en-US" b="1" dirty="0">
                <a:solidFill>
                  <a:schemeClr val="tx1">
                    <a:lumMod val="75000"/>
                    <a:lumOff val="25000"/>
                  </a:schemeClr>
                </a:solidFill>
                <a:latin typeface="Anuphan" pitchFamily="2" charset="-34"/>
                <a:cs typeface="Anuphan" pitchFamily="2" charset="-34"/>
              </a:rPr>
              <a:t>Class</a:t>
            </a:r>
            <a:r>
              <a:rPr lang="en-US" dirty="0">
                <a:solidFill>
                  <a:schemeClr val="tx1">
                    <a:lumMod val="75000"/>
                    <a:lumOff val="25000"/>
                  </a:schemeClr>
                </a:solidFill>
                <a:latin typeface="Anuphan" pitchFamily="2" charset="-34"/>
                <a:cs typeface="Anuphan" pitchFamily="2" charset="-34"/>
              </a:rPr>
              <a:t> </a:t>
            </a:r>
            <a:r>
              <a:rPr lang="en-US" b="1" dirty="0">
                <a:solidFill>
                  <a:schemeClr val="tx1">
                    <a:lumMod val="75000"/>
                    <a:lumOff val="25000"/>
                  </a:schemeClr>
                </a:solidFill>
                <a:latin typeface="Anuphan" pitchFamily="2" charset="-34"/>
                <a:cs typeface="Anuphan" pitchFamily="2" charset="-34"/>
              </a:rPr>
              <a:t>weights</a:t>
            </a:r>
            <a:r>
              <a:rPr lang="en-US" dirty="0">
                <a:solidFill>
                  <a:schemeClr val="tx1">
                    <a:lumMod val="75000"/>
                    <a:lumOff val="25000"/>
                  </a:schemeClr>
                </a:solidFill>
                <a:latin typeface="Anuphan" pitchFamily="2" charset="-34"/>
                <a:cs typeface="Anuphan" pitchFamily="2" charset="-34"/>
              </a:rPr>
              <a:t> — penalize misclassification of minority class</a:t>
            </a:r>
          </a:p>
        </p:txBody>
      </p:sp>
      <p:sp>
        <p:nvSpPr>
          <p:cNvPr id="7" name="Title 1">
            <a:extLst>
              <a:ext uri="{FF2B5EF4-FFF2-40B4-BE49-F238E27FC236}">
                <a16:creationId xmlns:a16="http://schemas.microsoft.com/office/drawing/2014/main" id="{79D4D930-E995-198C-024B-CD65FFB7C9BA}"/>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1780492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69043-D4C9-1195-E247-E86717E6E9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C81E6FC-230A-7533-89EF-9ED46E0B5B87}"/>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8. Data Splitting</a:t>
            </a:r>
          </a:p>
        </p:txBody>
      </p:sp>
      <p:sp>
        <p:nvSpPr>
          <p:cNvPr id="3" name="TextBox 2">
            <a:extLst>
              <a:ext uri="{FF2B5EF4-FFF2-40B4-BE49-F238E27FC236}">
                <a16:creationId xmlns:a16="http://schemas.microsoft.com/office/drawing/2014/main" id="{7BE8A1B3-499D-D377-B2D4-1C1C7A2F3122}"/>
              </a:ext>
            </a:extLst>
          </p:cNvPr>
          <p:cNvSpPr txBox="1"/>
          <p:nvPr/>
        </p:nvSpPr>
        <p:spPr>
          <a:xfrm>
            <a:off x="1317523" y="2538833"/>
            <a:ext cx="9556954"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Divide data into: </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Training set</a:t>
            </a:r>
            <a:r>
              <a:rPr lang="en-US" dirty="0">
                <a:solidFill>
                  <a:schemeClr val="tx1">
                    <a:lumMod val="75000"/>
                    <a:lumOff val="25000"/>
                  </a:schemeClr>
                </a:solidFill>
                <a:latin typeface="Anuphan" pitchFamily="2" charset="-34"/>
                <a:cs typeface="Anuphan" pitchFamily="2" charset="-34"/>
              </a:rPr>
              <a:t> (~70–80%) — model learns from this</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Validation set</a:t>
            </a:r>
            <a:r>
              <a:rPr lang="en-US" dirty="0">
                <a:solidFill>
                  <a:schemeClr val="tx1">
                    <a:lumMod val="75000"/>
                    <a:lumOff val="25000"/>
                  </a:schemeClr>
                </a:solidFill>
                <a:latin typeface="Anuphan" pitchFamily="2" charset="-34"/>
                <a:cs typeface="Anuphan" pitchFamily="2" charset="-34"/>
              </a:rPr>
              <a:t> (~10–15%) — tune hyperparameters</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Test set</a:t>
            </a:r>
            <a:r>
              <a:rPr lang="en-US" dirty="0">
                <a:solidFill>
                  <a:schemeClr val="tx1">
                    <a:lumMod val="75000"/>
                    <a:lumOff val="25000"/>
                  </a:schemeClr>
                </a:solidFill>
                <a:latin typeface="Anuphan" pitchFamily="2" charset="-34"/>
                <a:cs typeface="Anuphan" pitchFamily="2" charset="-34"/>
              </a:rPr>
              <a:t> (~10–15%) — final unbiased evaluation</a:t>
            </a:r>
          </a:p>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Use </a:t>
            </a:r>
            <a:r>
              <a:rPr lang="en-US" b="1" dirty="0">
                <a:solidFill>
                  <a:schemeClr val="tx1">
                    <a:lumMod val="75000"/>
                    <a:lumOff val="25000"/>
                  </a:schemeClr>
                </a:solidFill>
                <a:latin typeface="Anuphan" pitchFamily="2" charset="-34"/>
                <a:cs typeface="Anuphan" pitchFamily="2" charset="-34"/>
              </a:rPr>
              <a:t>stratified splitting</a:t>
            </a:r>
            <a:r>
              <a:rPr lang="en-US" dirty="0">
                <a:solidFill>
                  <a:schemeClr val="tx1">
                    <a:lumMod val="75000"/>
                    <a:lumOff val="25000"/>
                  </a:schemeClr>
                </a:solidFill>
                <a:latin typeface="Anuphan" pitchFamily="2" charset="-34"/>
                <a:cs typeface="Anuphan" pitchFamily="2" charset="-34"/>
              </a:rPr>
              <a:t> for imbalanced datasets </a:t>
            </a:r>
          </a:p>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Use </a:t>
            </a:r>
            <a:r>
              <a:rPr lang="en-US" b="1" dirty="0">
                <a:solidFill>
                  <a:schemeClr val="tx1">
                    <a:lumMod val="75000"/>
                    <a:lumOff val="25000"/>
                  </a:schemeClr>
                </a:solidFill>
                <a:latin typeface="Anuphan" pitchFamily="2" charset="-34"/>
                <a:cs typeface="Anuphan" pitchFamily="2" charset="-34"/>
              </a:rPr>
              <a:t>time-based splitting</a:t>
            </a:r>
            <a:r>
              <a:rPr lang="en-US" dirty="0">
                <a:solidFill>
                  <a:schemeClr val="tx1">
                    <a:lumMod val="75000"/>
                    <a:lumOff val="25000"/>
                  </a:schemeClr>
                </a:solidFill>
                <a:latin typeface="Anuphan" pitchFamily="2" charset="-34"/>
                <a:cs typeface="Anuphan" pitchFamily="2" charset="-34"/>
              </a:rPr>
              <a:t> for time-series data</a:t>
            </a:r>
          </a:p>
        </p:txBody>
      </p:sp>
      <p:sp>
        <p:nvSpPr>
          <p:cNvPr id="10" name="Title 1">
            <a:extLst>
              <a:ext uri="{FF2B5EF4-FFF2-40B4-BE49-F238E27FC236}">
                <a16:creationId xmlns:a16="http://schemas.microsoft.com/office/drawing/2014/main" id="{CCEE46C6-362E-3C83-EB5C-1E6918E6A029}"/>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2190309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3687C-44C1-88F2-B860-33FD6D3BB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A71DEE-6D51-67E8-BFC7-6C99C802F48F}"/>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3E37ADE5-B489-2127-0D64-76EE25B29463}"/>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9. Data Pipelines &amp; Reproducibility</a:t>
            </a:r>
          </a:p>
        </p:txBody>
      </p:sp>
      <p:sp>
        <p:nvSpPr>
          <p:cNvPr id="3" name="TextBox 2">
            <a:extLst>
              <a:ext uri="{FF2B5EF4-FFF2-40B4-BE49-F238E27FC236}">
                <a16:creationId xmlns:a16="http://schemas.microsoft.com/office/drawing/2014/main" id="{82873BB6-B01B-2463-3A51-90D609A0B578}"/>
              </a:ext>
            </a:extLst>
          </p:cNvPr>
          <p:cNvSpPr txBox="1"/>
          <p:nvPr/>
        </p:nvSpPr>
        <p:spPr>
          <a:xfrm>
            <a:off x="1317523" y="2538833"/>
            <a:ext cx="9556954"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Divide data into: </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Training set</a:t>
            </a:r>
            <a:r>
              <a:rPr lang="en-US" dirty="0">
                <a:solidFill>
                  <a:schemeClr val="tx1">
                    <a:lumMod val="75000"/>
                    <a:lumOff val="25000"/>
                  </a:schemeClr>
                </a:solidFill>
                <a:latin typeface="Anuphan" pitchFamily="2" charset="-34"/>
                <a:cs typeface="Anuphan" pitchFamily="2" charset="-34"/>
              </a:rPr>
              <a:t> (~70–80%) — model learns from this</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Validation set</a:t>
            </a:r>
            <a:r>
              <a:rPr lang="en-US" dirty="0">
                <a:solidFill>
                  <a:schemeClr val="tx1">
                    <a:lumMod val="75000"/>
                    <a:lumOff val="25000"/>
                  </a:schemeClr>
                </a:solidFill>
                <a:latin typeface="Anuphan" pitchFamily="2" charset="-34"/>
                <a:cs typeface="Anuphan" pitchFamily="2" charset="-34"/>
              </a:rPr>
              <a:t> (~10–15%) — tune hyperparameters</a:t>
            </a:r>
          </a:p>
          <a:p>
            <a:pPr marL="742950" lvl="1" indent="-285750">
              <a:buFont typeface="Arial" panose="020B0604020202020204" pitchFamily="34" charset="0"/>
              <a:buChar char="•"/>
            </a:pPr>
            <a:r>
              <a:rPr lang="en-US" b="1" dirty="0">
                <a:solidFill>
                  <a:schemeClr val="tx1">
                    <a:lumMod val="75000"/>
                    <a:lumOff val="25000"/>
                  </a:schemeClr>
                </a:solidFill>
                <a:latin typeface="Anuphan" pitchFamily="2" charset="-34"/>
                <a:cs typeface="Anuphan" pitchFamily="2" charset="-34"/>
              </a:rPr>
              <a:t>Test set</a:t>
            </a:r>
            <a:r>
              <a:rPr lang="en-US" dirty="0">
                <a:solidFill>
                  <a:schemeClr val="tx1">
                    <a:lumMod val="75000"/>
                    <a:lumOff val="25000"/>
                  </a:schemeClr>
                </a:solidFill>
                <a:latin typeface="Anuphan" pitchFamily="2" charset="-34"/>
                <a:cs typeface="Anuphan" pitchFamily="2" charset="-34"/>
              </a:rPr>
              <a:t> (~10–15%) — final unbiased evaluation</a:t>
            </a:r>
          </a:p>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Use </a:t>
            </a:r>
            <a:r>
              <a:rPr lang="en-US" b="1" dirty="0">
                <a:solidFill>
                  <a:schemeClr val="tx1">
                    <a:lumMod val="75000"/>
                    <a:lumOff val="25000"/>
                  </a:schemeClr>
                </a:solidFill>
                <a:latin typeface="Anuphan" pitchFamily="2" charset="-34"/>
                <a:cs typeface="Anuphan" pitchFamily="2" charset="-34"/>
              </a:rPr>
              <a:t>stratified splitting</a:t>
            </a:r>
            <a:r>
              <a:rPr lang="en-US" dirty="0">
                <a:solidFill>
                  <a:schemeClr val="tx1">
                    <a:lumMod val="75000"/>
                    <a:lumOff val="25000"/>
                  </a:schemeClr>
                </a:solidFill>
                <a:latin typeface="Anuphan" pitchFamily="2" charset="-34"/>
                <a:cs typeface="Anuphan" pitchFamily="2" charset="-34"/>
              </a:rPr>
              <a:t> for imbalanced datasets </a:t>
            </a:r>
          </a:p>
          <a:p>
            <a:pPr marL="285750" indent="-285750">
              <a:buFont typeface="Arial" panose="020B0604020202020204" pitchFamily="34" charset="0"/>
              <a:buChar char="•"/>
            </a:pPr>
            <a:r>
              <a:rPr lang="en-US" dirty="0">
                <a:solidFill>
                  <a:schemeClr val="tx1">
                    <a:lumMod val="75000"/>
                    <a:lumOff val="25000"/>
                  </a:schemeClr>
                </a:solidFill>
                <a:latin typeface="Anuphan" pitchFamily="2" charset="-34"/>
                <a:cs typeface="Anuphan" pitchFamily="2" charset="-34"/>
              </a:rPr>
              <a:t>Use </a:t>
            </a:r>
            <a:r>
              <a:rPr lang="en-US" b="1" dirty="0">
                <a:solidFill>
                  <a:schemeClr val="tx1">
                    <a:lumMod val="75000"/>
                    <a:lumOff val="25000"/>
                  </a:schemeClr>
                </a:solidFill>
                <a:latin typeface="Anuphan" pitchFamily="2" charset="-34"/>
                <a:cs typeface="Anuphan" pitchFamily="2" charset="-34"/>
              </a:rPr>
              <a:t>time-based splitting</a:t>
            </a:r>
            <a:r>
              <a:rPr lang="en-US" dirty="0">
                <a:solidFill>
                  <a:schemeClr val="tx1">
                    <a:lumMod val="75000"/>
                    <a:lumOff val="25000"/>
                  </a:schemeClr>
                </a:solidFill>
                <a:latin typeface="Anuphan" pitchFamily="2" charset="-34"/>
                <a:cs typeface="Anuphan" pitchFamily="2" charset="-34"/>
              </a:rPr>
              <a:t> for time-series data</a:t>
            </a:r>
          </a:p>
        </p:txBody>
      </p:sp>
    </p:spTree>
    <p:extLst>
      <p:ext uri="{BB962C8B-B14F-4D97-AF65-F5344CB8AC3E}">
        <p14:creationId xmlns:p14="http://schemas.microsoft.com/office/powerpoint/2010/main" val="359155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EC0CC-96C4-87E1-F43E-D9220BAFC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C0C51D-ADBB-1433-E524-DCAE1B1AE45F}"/>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Data Preparation for Machine Learning</a:t>
            </a:r>
            <a:endParaRPr lang="en-US" sz="4000" b="1" dirty="0">
              <a:solidFill>
                <a:schemeClr val="tx1">
                  <a:lumMod val="75000"/>
                  <a:lumOff val="25000"/>
                </a:schemeClr>
              </a:solidFill>
              <a:latin typeface="Anuphan" pitchFamily="2" charset="-34"/>
              <a:cs typeface="Anuphan" pitchFamily="2" charset="-34"/>
            </a:endParaRPr>
          </a:p>
        </p:txBody>
      </p:sp>
      <p:pic>
        <p:nvPicPr>
          <p:cNvPr id="6" name="Picture 5">
            <a:extLst>
              <a:ext uri="{FF2B5EF4-FFF2-40B4-BE49-F238E27FC236}">
                <a16:creationId xmlns:a16="http://schemas.microsoft.com/office/drawing/2014/main" id="{74952EFE-B552-BE59-9A02-E8E53D6F4695}"/>
              </a:ext>
            </a:extLst>
          </p:cNvPr>
          <p:cNvPicPr>
            <a:picLocks noChangeAspect="1"/>
          </p:cNvPicPr>
          <p:nvPr/>
        </p:nvPicPr>
        <p:blipFill>
          <a:blip r:embed="rId2"/>
          <a:stretch>
            <a:fillRect/>
          </a:stretch>
        </p:blipFill>
        <p:spPr>
          <a:xfrm>
            <a:off x="1871073" y="2271203"/>
            <a:ext cx="8449854" cy="29055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29138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A05C2-9531-711A-368B-013218586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83064E-A03A-6663-D602-CEBAB727A12E}"/>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1533F813-7254-C374-2723-D1115A2EEB66}"/>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1. Install &amp; Import Libraries</a:t>
            </a:r>
          </a:p>
        </p:txBody>
      </p:sp>
      <p:sp>
        <p:nvSpPr>
          <p:cNvPr id="3" name="TextBox 2">
            <a:extLst>
              <a:ext uri="{FF2B5EF4-FFF2-40B4-BE49-F238E27FC236}">
                <a16:creationId xmlns:a16="http://schemas.microsoft.com/office/drawing/2014/main" id="{FC4537AB-732B-349D-3A87-F45C728AD166}"/>
              </a:ext>
            </a:extLst>
          </p:cNvPr>
          <p:cNvSpPr txBox="1"/>
          <p:nvPr/>
        </p:nvSpPr>
        <p:spPr>
          <a:xfrm>
            <a:off x="1317523" y="2538833"/>
            <a:ext cx="9556954" cy="1200329"/>
          </a:xfrm>
          <a:prstGeom prst="rect">
            <a:avLst/>
          </a:prstGeom>
          <a:noFill/>
        </p:spPr>
        <p:txBody>
          <a:bodyPr wrap="square" rtlCol="0">
            <a:spAutoFit/>
          </a:bodyPr>
          <a:lstStyle/>
          <a:p>
            <a:r>
              <a:rPr lang="en-US" dirty="0">
                <a:solidFill>
                  <a:schemeClr val="tx1">
                    <a:lumMod val="75000"/>
                    <a:lumOff val="25000"/>
                  </a:schemeClr>
                </a:solidFill>
                <a:latin typeface="Anuphan" pitchFamily="2" charset="-34"/>
                <a:cs typeface="Anuphan" pitchFamily="2" charset="-34"/>
              </a:rPr>
              <a:t>The first step is setting up your environment by installing scikit-learn along with supporting libraries like NumPy and Pandas. These libraries work together — NumPy handles numerical operations, Pandas manages data in table form, and scikit-learn provides all the ML tools you need.</a:t>
            </a:r>
          </a:p>
        </p:txBody>
      </p:sp>
    </p:spTree>
    <p:extLst>
      <p:ext uri="{BB962C8B-B14F-4D97-AF65-F5344CB8AC3E}">
        <p14:creationId xmlns:p14="http://schemas.microsoft.com/office/powerpoint/2010/main" val="34677737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ABB3-1EDB-E5BC-5F29-CB14BD866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984C15-4F13-77C3-5280-D457CE35B6B5}"/>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D5B217C2-F83A-2A29-6317-22EB3E2D4B16}"/>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2. Load &amp; Prepare the Data</a:t>
            </a:r>
          </a:p>
        </p:txBody>
      </p:sp>
      <p:sp>
        <p:nvSpPr>
          <p:cNvPr id="3" name="TextBox 2">
            <a:extLst>
              <a:ext uri="{FF2B5EF4-FFF2-40B4-BE49-F238E27FC236}">
                <a16:creationId xmlns:a16="http://schemas.microsoft.com/office/drawing/2014/main" id="{BDB9F2E6-A022-EF35-D7B2-39E4B01566C0}"/>
              </a:ext>
            </a:extLst>
          </p:cNvPr>
          <p:cNvSpPr txBox="1"/>
          <p:nvPr/>
        </p:nvSpPr>
        <p:spPr>
          <a:xfrm>
            <a:off x="1317523" y="2538833"/>
            <a:ext cx="9556954" cy="1200329"/>
          </a:xfrm>
          <a:prstGeom prst="rect">
            <a:avLst/>
          </a:prstGeom>
          <a:noFill/>
        </p:spPr>
        <p:txBody>
          <a:bodyPr wrap="square" rtlCol="0">
            <a:spAutoFit/>
          </a:bodyPr>
          <a:lstStyle/>
          <a:p>
            <a:r>
              <a:rPr lang="en-US" dirty="0">
                <a:solidFill>
                  <a:schemeClr val="tx1">
                    <a:lumMod val="75000"/>
                    <a:lumOff val="25000"/>
                  </a:schemeClr>
                </a:solidFill>
                <a:latin typeface="Anuphan" pitchFamily="2" charset="-34"/>
                <a:cs typeface="Anuphan" pitchFamily="2" charset="-34"/>
              </a:rPr>
              <a:t>You bring your data into the environment, either from a file like CSV, a database, or scikit-</a:t>
            </a:r>
            <a:r>
              <a:rPr lang="en-US" dirty="0" err="1">
                <a:solidFill>
                  <a:schemeClr val="tx1">
                    <a:lumMod val="75000"/>
                    <a:lumOff val="25000"/>
                  </a:schemeClr>
                </a:solidFill>
                <a:latin typeface="Anuphan" pitchFamily="2" charset="-34"/>
                <a:cs typeface="Anuphan" pitchFamily="2" charset="-34"/>
              </a:rPr>
              <a:t>learn's</a:t>
            </a:r>
            <a:r>
              <a:rPr lang="en-US" dirty="0">
                <a:solidFill>
                  <a:schemeClr val="tx1">
                    <a:lumMod val="75000"/>
                    <a:lumOff val="25000"/>
                  </a:schemeClr>
                </a:solidFill>
                <a:latin typeface="Anuphan" pitchFamily="2" charset="-34"/>
                <a:cs typeface="Anuphan" pitchFamily="2" charset="-34"/>
              </a:rPr>
              <a:t> built-in sample datasets. At this stage, you separate your data into two parts — the </a:t>
            </a:r>
            <a:r>
              <a:rPr lang="en-US" b="1" dirty="0">
                <a:solidFill>
                  <a:schemeClr val="tx1">
                    <a:lumMod val="75000"/>
                    <a:lumOff val="25000"/>
                  </a:schemeClr>
                </a:solidFill>
                <a:latin typeface="Anuphan" pitchFamily="2" charset="-34"/>
                <a:cs typeface="Anuphan" pitchFamily="2" charset="-34"/>
              </a:rPr>
              <a:t>features (X), </a:t>
            </a:r>
            <a:r>
              <a:rPr lang="en-US" dirty="0">
                <a:solidFill>
                  <a:schemeClr val="tx1">
                    <a:lumMod val="75000"/>
                    <a:lumOff val="25000"/>
                  </a:schemeClr>
                </a:solidFill>
                <a:latin typeface="Anuphan" pitchFamily="2" charset="-34"/>
                <a:cs typeface="Anuphan" pitchFamily="2" charset="-34"/>
              </a:rPr>
              <a:t>which are the input variables the model will learn from, and the </a:t>
            </a:r>
            <a:r>
              <a:rPr lang="en-US" b="1" dirty="0">
                <a:solidFill>
                  <a:schemeClr val="tx1">
                    <a:lumMod val="75000"/>
                    <a:lumOff val="25000"/>
                  </a:schemeClr>
                </a:solidFill>
                <a:latin typeface="Anuphan" pitchFamily="2" charset="-34"/>
                <a:cs typeface="Anuphan" pitchFamily="2" charset="-34"/>
              </a:rPr>
              <a:t>target (y), </a:t>
            </a:r>
            <a:r>
              <a:rPr lang="en-US" dirty="0">
                <a:solidFill>
                  <a:schemeClr val="tx1">
                    <a:lumMod val="75000"/>
                    <a:lumOff val="25000"/>
                  </a:schemeClr>
                </a:solidFill>
                <a:latin typeface="Anuphan" pitchFamily="2" charset="-34"/>
                <a:cs typeface="Anuphan" pitchFamily="2" charset="-34"/>
              </a:rPr>
              <a:t>which is the output or answer you want the model to predict.</a:t>
            </a:r>
          </a:p>
        </p:txBody>
      </p:sp>
    </p:spTree>
    <p:extLst>
      <p:ext uri="{BB962C8B-B14F-4D97-AF65-F5344CB8AC3E}">
        <p14:creationId xmlns:p14="http://schemas.microsoft.com/office/powerpoint/2010/main" val="28139242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171C-D2E8-F535-FA25-228DA5ED5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9FA5D4-10F1-7AAB-8EE9-D5CF9E680636}"/>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1956A642-FEB0-44C0-F9F7-6A8A706432A7}"/>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3. Split the Data</a:t>
            </a:r>
          </a:p>
        </p:txBody>
      </p:sp>
      <p:sp>
        <p:nvSpPr>
          <p:cNvPr id="3" name="TextBox 2">
            <a:extLst>
              <a:ext uri="{FF2B5EF4-FFF2-40B4-BE49-F238E27FC236}">
                <a16:creationId xmlns:a16="http://schemas.microsoft.com/office/drawing/2014/main" id="{7CDCA384-9464-A076-2E9F-EEF94F6DD9D2}"/>
              </a:ext>
            </a:extLst>
          </p:cNvPr>
          <p:cNvSpPr txBox="1"/>
          <p:nvPr/>
        </p:nvSpPr>
        <p:spPr>
          <a:xfrm>
            <a:off x="1317523" y="2538833"/>
            <a:ext cx="9556954" cy="1477328"/>
          </a:xfrm>
          <a:prstGeom prst="rect">
            <a:avLst/>
          </a:prstGeom>
          <a:noFill/>
        </p:spPr>
        <p:txBody>
          <a:bodyPr wrap="square" rtlCol="0">
            <a:spAutoFit/>
          </a:bodyPr>
          <a:lstStyle/>
          <a:p>
            <a:r>
              <a:rPr lang="en-US" dirty="0">
                <a:solidFill>
                  <a:schemeClr val="tx1">
                    <a:lumMod val="75000"/>
                    <a:lumOff val="25000"/>
                  </a:schemeClr>
                </a:solidFill>
                <a:latin typeface="Anuphan" pitchFamily="2" charset="-34"/>
                <a:cs typeface="Anuphan" pitchFamily="2" charset="-34"/>
              </a:rPr>
              <a:t>Before doing anything else, you divide your dataset into a </a:t>
            </a:r>
            <a:r>
              <a:rPr lang="en-US" b="1" dirty="0">
                <a:solidFill>
                  <a:schemeClr val="tx1">
                    <a:lumMod val="75000"/>
                    <a:lumOff val="25000"/>
                  </a:schemeClr>
                </a:solidFill>
                <a:latin typeface="Anuphan" pitchFamily="2" charset="-34"/>
                <a:cs typeface="Anuphan" pitchFamily="2" charset="-34"/>
              </a:rPr>
              <a:t>training set</a:t>
            </a:r>
            <a:r>
              <a:rPr lang="en-US" dirty="0">
                <a:solidFill>
                  <a:schemeClr val="tx1">
                    <a:lumMod val="75000"/>
                    <a:lumOff val="25000"/>
                  </a:schemeClr>
                </a:solidFill>
                <a:latin typeface="Anuphan" pitchFamily="2" charset="-34"/>
                <a:cs typeface="Anuphan" pitchFamily="2" charset="-34"/>
              </a:rPr>
              <a:t> and a </a:t>
            </a:r>
            <a:r>
              <a:rPr lang="en-US" b="1" dirty="0">
                <a:solidFill>
                  <a:schemeClr val="tx1">
                    <a:lumMod val="75000"/>
                    <a:lumOff val="25000"/>
                  </a:schemeClr>
                </a:solidFill>
                <a:latin typeface="Anuphan" pitchFamily="2" charset="-34"/>
                <a:cs typeface="Anuphan" pitchFamily="2" charset="-34"/>
              </a:rPr>
              <a:t>test set</a:t>
            </a:r>
            <a:r>
              <a:rPr lang="en-US" dirty="0">
                <a:solidFill>
                  <a:schemeClr val="tx1">
                    <a:lumMod val="75000"/>
                    <a:lumOff val="25000"/>
                  </a:schemeClr>
                </a:solidFill>
                <a:latin typeface="Anuphan" pitchFamily="2" charset="-34"/>
                <a:cs typeface="Anuphan" pitchFamily="2" charset="-34"/>
              </a:rPr>
              <a:t>. The training set is what the model learns from, and the test set is kept completely separate to evaluate how well the model performs on unseen data. A common split is 80% for training and 20% for testing. For imbalanced datasets, stratified splitting is used to ensure both sets have proportional class representation.</a:t>
            </a:r>
          </a:p>
        </p:txBody>
      </p:sp>
    </p:spTree>
    <p:extLst>
      <p:ext uri="{BB962C8B-B14F-4D97-AF65-F5344CB8AC3E}">
        <p14:creationId xmlns:p14="http://schemas.microsoft.com/office/powerpoint/2010/main" val="2954688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FCFFF-B362-2538-FDCD-487523B757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F530C9-7B6D-B4DF-DA47-2344C20E220C}"/>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B9CB05CC-7C67-2BEB-62A8-37DCF38BE7EF}"/>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4. Preprocess the Data</a:t>
            </a:r>
          </a:p>
        </p:txBody>
      </p:sp>
      <p:sp>
        <p:nvSpPr>
          <p:cNvPr id="3" name="TextBox 2">
            <a:extLst>
              <a:ext uri="{FF2B5EF4-FFF2-40B4-BE49-F238E27FC236}">
                <a16:creationId xmlns:a16="http://schemas.microsoft.com/office/drawing/2014/main" id="{B1DBBF23-4612-A843-4810-6BF0F5BDE86F}"/>
              </a:ext>
            </a:extLst>
          </p:cNvPr>
          <p:cNvSpPr txBox="1"/>
          <p:nvPr/>
        </p:nvSpPr>
        <p:spPr>
          <a:xfrm>
            <a:off x="1317523" y="2538833"/>
            <a:ext cx="9556954" cy="1754326"/>
          </a:xfrm>
          <a:prstGeom prst="rect">
            <a:avLst/>
          </a:prstGeom>
          <a:noFill/>
        </p:spPr>
        <p:txBody>
          <a:bodyPr wrap="square" rtlCol="0">
            <a:spAutoFit/>
          </a:bodyPr>
          <a:lstStyle/>
          <a:p>
            <a:r>
              <a:rPr lang="en-US" dirty="0">
                <a:latin typeface="Anuphan" pitchFamily="2" charset="-34"/>
                <a:cs typeface="Anuphan" pitchFamily="2" charset="-34"/>
              </a:rPr>
              <a:t>Raw data is rarely ready for a model. In this step you clean and transform the data so the model can understand it properly. This includes handling missing values by filling them in with a sensible substitute like the mean or median, and scaling the numerical features so that no single variable dominates others just because it has larger numbers. Crucially, all preprocessing rules must be </a:t>
            </a:r>
            <a:r>
              <a:rPr lang="en-US" b="1" dirty="0">
                <a:latin typeface="Anuphan" pitchFamily="2" charset="-34"/>
                <a:cs typeface="Anuphan" pitchFamily="2" charset="-34"/>
              </a:rPr>
              <a:t>learned from the training data only</a:t>
            </a:r>
            <a:r>
              <a:rPr lang="en-US" dirty="0">
                <a:latin typeface="Anuphan" pitchFamily="2" charset="-34"/>
                <a:cs typeface="Anuphan" pitchFamily="2" charset="-34"/>
              </a:rPr>
              <a:t> and then applied to the test data — never the other way around, to avoid data leakage.</a:t>
            </a:r>
            <a:endParaRPr lang="en-US"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38278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F70CE-5644-9E60-3E90-38D8D561DD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6858E4-E31D-0DE0-577C-B04A7A320B6F}"/>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B6E39562-D1B5-8F8F-CE21-3334C5650C1E}"/>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6. Train the Model</a:t>
            </a:r>
          </a:p>
        </p:txBody>
      </p:sp>
      <p:sp>
        <p:nvSpPr>
          <p:cNvPr id="3" name="TextBox 2">
            <a:extLst>
              <a:ext uri="{FF2B5EF4-FFF2-40B4-BE49-F238E27FC236}">
                <a16:creationId xmlns:a16="http://schemas.microsoft.com/office/drawing/2014/main" id="{17283509-742A-050F-E5EF-11390861AA01}"/>
              </a:ext>
            </a:extLst>
          </p:cNvPr>
          <p:cNvSpPr txBox="1"/>
          <p:nvPr/>
        </p:nvSpPr>
        <p:spPr>
          <a:xfrm>
            <a:off x="1317523" y="2538833"/>
            <a:ext cx="9556954" cy="923330"/>
          </a:xfrm>
          <a:prstGeom prst="rect">
            <a:avLst/>
          </a:prstGeom>
          <a:noFill/>
        </p:spPr>
        <p:txBody>
          <a:bodyPr wrap="square" rtlCol="0">
            <a:spAutoFit/>
          </a:bodyPr>
          <a:lstStyle/>
          <a:p>
            <a:r>
              <a:rPr lang="en-US" dirty="0">
                <a:latin typeface="Anuphan" pitchFamily="2" charset="-34"/>
                <a:cs typeface="Anuphan" pitchFamily="2" charset="-34"/>
              </a:rPr>
              <a:t>Training is the process of the model learning patterns from your training data. You feed the algorithm both the features and the correct answers, and it adjusts its internal parameters to minimize prediction errors. This is often called "fitting" the model to the data.</a:t>
            </a:r>
          </a:p>
        </p:txBody>
      </p:sp>
    </p:spTree>
    <p:extLst>
      <p:ext uri="{BB962C8B-B14F-4D97-AF65-F5344CB8AC3E}">
        <p14:creationId xmlns:p14="http://schemas.microsoft.com/office/powerpoint/2010/main" val="2484073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A078D-793F-F805-25CC-1E76599CD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B6FD-5AB4-566F-4E0B-E3C7C1B51EE5}"/>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7A1A20B3-9D27-163F-E39A-5F38408D3485}"/>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7. Make Predictions</a:t>
            </a:r>
          </a:p>
        </p:txBody>
      </p:sp>
      <p:sp>
        <p:nvSpPr>
          <p:cNvPr id="3" name="TextBox 2">
            <a:extLst>
              <a:ext uri="{FF2B5EF4-FFF2-40B4-BE49-F238E27FC236}">
                <a16:creationId xmlns:a16="http://schemas.microsoft.com/office/drawing/2014/main" id="{7500F108-7EF4-3F42-680E-2A953933D4AF}"/>
              </a:ext>
            </a:extLst>
          </p:cNvPr>
          <p:cNvSpPr txBox="1"/>
          <p:nvPr/>
        </p:nvSpPr>
        <p:spPr>
          <a:xfrm>
            <a:off x="1317523" y="2538833"/>
            <a:ext cx="9556954" cy="923330"/>
          </a:xfrm>
          <a:prstGeom prst="rect">
            <a:avLst/>
          </a:prstGeom>
          <a:noFill/>
        </p:spPr>
        <p:txBody>
          <a:bodyPr wrap="square" rtlCol="0">
            <a:spAutoFit/>
          </a:bodyPr>
          <a:lstStyle/>
          <a:p>
            <a:r>
              <a:rPr lang="en-US" dirty="0"/>
              <a:t>Once trained, the model is used to predict outcomes on the test set — data it has never seen before. For classification tasks, it can also output probability scores for each class, which is useful when you need to understand the model's confidence level.</a:t>
            </a:r>
            <a:endParaRPr lang="en-US" dirty="0">
              <a:latin typeface="Anuphan" pitchFamily="2" charset="-34"/>
              <a:cs typeface="Anuphan" pitchFamily="2" charset="-34"/>
            </a:endParaRPr>
          </a:p>
        </p:txBody>
      </p:sp>
    </p:spTree>
    <p:extLst>
      <p:ext uri="{BB962C8B-B14F-4D97-AF65-F5344CB8AC3E}">
        <p14:creationId xmlns:p14="http://schemas.microsoft.com/office/powerpoint/2010/main" val="4290577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555FE-7DE0-DF0A-88C4-974B34A35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C788D-47D7-963C-D463-4413103241D6}"/>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730202AE-9611-54CA-B952-EB0399378518}"/>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8. Evaluate the Model</a:t>
            </a:r>
          </a:p>
        </p:txBody>
      </p:sp>
      <p:sp>
        <p:nvSpPr>
          <p:cNvPr id="3" name="TextBox 2">
            <a:extLst>
              <a:ext uri="{FF2B5EF4-FFF2-40B4-BE49-F238E27FC236}">
                <a16:creationId xmlns:a16="http://schemas.microsoft.com/office/drawing/2014/main" id="{0055B576-FF6F-E785-4813-4C8C9FC3C1DD}"/>
              </a:ext>
            </a:extLst>
          </p:cNvPr>
          <p:cNvSpPr txBox="1"/>
          <p:nvPr/>
        </p:nvSpPr>
        <p:spPr>
          <a:xfrm>
            <a:off x="1317523" y="2538833"/>
            <a:ext cx="9556954" cy="1754326"/>
          </a:xfrm>
          <a:prstGeom prst="rect">
            <a:avLst/>
          </a:prstGeom>
          <a:noFill/>
        </p:spPr>
        <p:txBody>
          <a:bodyPr wrap="square" rtlCol="0">
            <a:spAutoFit/>
          </a:bodyPr>
          <a:lstStyle/>
          <a:p>
            <a:r>
              <a:rPr lang="en-US" dirty="0">
                <a:latin typeface="Anuphan" pitchFamily="2" charset="-34"/>
                <a:cs typeface="Anuphan" pitchFamily="2" charset="-34"/>
              </a:rPr>
              <a:t>You measure how well the model performed by comparing its predictions against the actual known answers in the test set. The metrics you use depend on the problem type. For classification, common metrics are accuracy, precision, recall, F1-score, and the confusion matrix. For regression, you use metrics like Mean Squared Error (MSE), Mean Absolute Error (MAE), and R² score. These numbers tell you where the model is doing well and where it is failing.</a:t>
            </a:r>
          </a:p>
        </p:txBody>
      </p:sp>
    </p:spTree>
    <p:extLst>
      <p:ext uri="{BB962C8B-B14F-4D97-AF65-F5344CB8AC3E}">
        <p14:creationId xmlns:p14="http://schemas.microsoft.com/office/powerpoint/2010/main" val="1949211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03CDD-3205-4960-FEC5-D0D6BEDC5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EF130-8439-9D5B-EECE-C30180A88510}"/>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48015589-28D5-44E8-AA03-61F8D1203CCB}"/>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9. Build a Pipeline</a:t>
            </a:r>
          </a:p>
        </p:txBody>
      </p:sp>
      <p:sp>
        <p:nvSpPr>
          <p:cNvPr id="3" name="TextBox 2">
            <a:extLst>
              <a:ext uri="{FF2B5EF4-FFF2-40B4-BE49-F238E27FC236}">
                <a16:creationId xmlns:a16="http://schemas.microsoft.com/office/drawing/2014/main" id="{D9CC08C7-63CD-CB2A-792F-93983482CB0E}"/>
              </a:ext>
            </a:extLst>
          </p:cNvPr>
          <p:cNvSpPr txBox="1"/>
          <p:nvPr/>
        </p:nvSpPr>
        <p:spPr>
          <a:xfrm>
            <a:off x="1317523" y="2538833"/>
            <a:ext cx="9556954" cy="1477328"/>
          </a:xfrm>
          <a:prstGeom prst="rect">
            <a:avLst/>
          </a:prstGeom>
          <a:noFill/>
        </p:spPr>
        <p:txBody>
          <a:bodyPr wrap="square" rtlCol="0">
            <a:spAutoFit/>
          </a:bodyPr>
          <a:lstStyle/>
          <a:p>
            <a:r>
              <a:rPr lang="en-US" dirty="0"/>
              <a:t>A pipeline is a way to chain all your preprocessing steps and your model together into a single unified workflow. Instead of applying each step manually one by one, the pipeline handles everything in the correct order automatically. This is considered best practice because it prevents data leakage, makes your code cleaner, and makes deploying the model much easier later.</a:t>
            </a:r>
            <a:endParaRPr lang="en-US" dirty="0">
              <a:latin typeface="Anuphan" pitchFamily="2" charset="-34"/>
              <a:cs typeface="Anuphan" pitchFamily="2" charset="-34"/>
            </a:endParaRPr>
          </a:p>
        </p:txBody>
      </p:sp>
    </p:spTree>
    <p:extLst>
      <p:ext uri="{BB962C8B-B14F-4D97-AF65-F5344CB8AC3E}">
        <p14:creationId xmlns:p14="http://schemas.microsoft.com/office/powerpoint/2010/main" val="22024839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CADCB-7B98-E0AC-FB42-EF4A6C6967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E406EF-ABEE-2041-120F-C6BADD6D017F}"/>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6AF63E06-D4C4-5E36-6C88-702C1498EDC5}"/>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10. Hyperparameter Tuning</a:t>
            </a:r>
          </a:p>
        </p:txBody>
      </p:sp>
      <p:sp>
        <p:nvSpPr>
          <p:cNvPr id="3" name="TextBox 2">
            <a:extLst>
              <a:ext uri="{FF2B5EF4-FFF2-40B4-BE49-F238E27FC236}">
                <a16:creationId xmlns:a16="http://schemas.microsoft.com/office/drawing/2014/main" id="{A3F95DE0-6884-AF7E-2226-43D9E54500C9}"/>
              </a:ext>
            </a:extLst>
          </p:cNvPr>
          <p:cNvSpPr txBox="1"/>
          <p:nvPr/>
        </p:nvSpPr>
        <p:spPr>
          <a:xfrm>
            <a:off x="1317523" y="2538833"/>
            <a:ext cx="9556954" cy="1754326"/>
          </a:xfrm>
          <a:prstGeom prst="rect">
            <a:avLst/>
          </a:prstGeom>
          <a:noFill/>
        </p:spPr>
        <p:txBody>
          <a:bodyPr wrap="square" rtlCol="0">
            <a:spAutoFit/>
          </a:bodyPr>
          <a:lstStyle/>
          <a:p>
            <a:r>
              <a:rPr lang="en-US" dirty="0">
                <a:latin typeface="Anuphan" pitchFamily="2" charset="-34"/>
                <a:cs typeface="Anuphan" pitchFamily="2" charset="-34"/>
              </a:rPr>
              <a:t>Every algorithm has settings called </a:t>
            </a:r>
            <a:r>
              <a:rPr lang="en-US" b="1" dirty="0">
                <a:latin typeface="Anuphan" pitchFamily="2" charset="-34"/>
                <a:cs typeface="Anuphan" pitchFamily="2" charset="-34"/>
              </a:rPr>
              <a:t>hyperparameters</a:t>
            </a:r>
            <a:r>
              <a:rPr lang="en-US" dirty="0">
                <a:latin typeface="Anuphan" pitchFamily="2" charset="-34"/>
                <a:cs typeface="Anuphan" pitchFamily="2" charset="-34"/>
              </a:rPr>
              <a:t> that you control — for example, the number of trees in a Random Forest or the depth of a Decision Tree. These are not learned from the data; you set them yourself. Tuning means systematically trying different combinations of these settings to find which ones produce the best model performance. Grid Search tries every possible combination, while Randomized Search samples random combinations — which is faster when there are many options.</a:t>
            </a:r>
          </a:p>
        </p:txBody>
      </p:sp>
    </p:spTree>
    <p:extLst>
      <p:ext uri="{BB962C8B-B14F-4D97-AF65-F5344CB8AC3E}">
        <p14:creationId xmlns:p14="http://schemas.microsoft.com/office/powerpoint/2010/main" val="666294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F4F5-5901-8709-C7E0-87A887EDE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9E4B73-DB07-B888-651F-213D8FB0390D}"/>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1511DFF5-DE23-5314-0742-DAA157A7CAE9}"/>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11. Cross-Validation</a:t>
            </a:r>
          </a:p>
        </p:txBody>
      </p:sp>
      <p:sp>
        <p:nvSpPr>
          <p:cNvPr id="3" name="TextBox 2">
            <a:extLst>
              <a:ext uri="{FF2B5EF4-FFF2-40B4-BE49-F238E27FC236}">
                <a16:creationId xmlns:a16="http://schemas.microsoft.com/office/drawing/2014/main" id="{FC2D6636-713C-9233-5A52-D16D27768DCF}"/>
              </a:ext>
            </a:extLst>
          </p:cNvPr>
          <p:cNvSpPr txBox="1"/>
          <p:nvPr/>
        </p:nvSpPr>
        <p:spPr>
          <a:xfrm>
            <a:off x="1317523" y="2538833"/>
            <a:ext cx="9556954" cy="1477328"/>
          </a:xfrm>
          <a:prstGeom prst="rect">
            <a:avLst/>
          </a:prstGeom>
          <a:noFill/>
        </p:spPr>
        <p:txBody>
          <a:bodyPr wrap="square" rtlCol="0">
            <a:spAutoFit/>
          </a:bodyPr>
          <a:lstStyle/>
          <a:p>
            <a:r>
              <a:rPr lang="en-US" dirty="0">
                <a:latin typeface="Anuphan" pitchFamily="2" charset="-34"/>
                <a:cs typeface="Anuphan" pitchFamily="2" charset="-34"/>
              </a:rPr>
              <a:t>Instead of evaluating the model just once on a single test set, cross-validation splits the training data into multiple folds and trains/tests the model several times on different portions of the data. This gives you a more reliable and unbiased estimate of how your model will perform in the real world, along with a measure of how stable or consistent its performance is.</a:t>
            </a:r>
          </a:p>
        </p:txBody>
      </p:sp>
    </p:spTree>
    <p:extLst>
      <p:ext uri="{BB962C8B-B14F-4D97-AF65-F5344CB8AC3E}">
        <p14:creationId xmlns:p14="http://schemas.microsoft.com/office/powerpoint/2010/main" val="927950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C1C8-09E9-6C38-2237-E89535A2C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D31EA7-53C1-2E66-8B84-D907B8D511B7}"/>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CE772048-1DDE-5267-1D24-0972C3C1C8A4}"/>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12. Save &amp; Load the Model</a:t>
            </a:r>
          </a:p>
        </p:txBody>
      </p:sp>
      <p:sp>
        <p:nvSpPr>
          <p:cNvPr id="3" name="TextBox 2">
            <a:extLst>
              <a:ext uri="{FF2B5EF4-FFF2-40B4-BE49-F238E27FC236}">
                <a16:creationId xmlns:a16="http://schemas.microsoft.com/office/drawing/2014/main" id="{3C250BA1-2F4C-2D32-6AB2-2A6F2BC0655B}"/>
              </a:ext>
            </a:extLst>
          </p:cNvPr>
          <p:cNvSpPr txBox="1"/>
          <p:nvPr/>
        </p:nvSpPr>
        <p:spPr>
          <a:xfrm>
            <a:off x="1317523" y="2538833"/>
            <a:ext cx="9556954" cy="923330"/>
          </a:xfrm>
          <a:prstGeom prst="rect">
            <a:avLst/>
          </a:prstGeom>
          <a:noFill/>
        </p:spPr>
        <p:txBody>
          <a:bodyPr wrap="square" rtlCol="0">
            <a:spAutoFit/>
          </a:bodyPr>
          <a:lstStyle/>
          <a:p>
            <a:r>
              <a:rPr lang="en-US" dirty="0">
                <a:latin typeface="Anuphan" pitchFamily="2" charset="-34"/>
                <a:cs typeface="Anuphan" pitchFamily="2" charset="-34"/>
              </a:rPr>
              <a:t>Once you are satisfied with your model's performance, you save it to disk so it can be reused without retraining. You can then load it at any time to make predictions on new data — this is the first step toward deploying the model in a real application.</a:t>
            </a:r>
          </a:p>
        </p:txBody>
      </p:sp>
    </p:spTree>
    <p:extLst>
      <p:ext uri="{BB962C8B-B14F-4D97-AF65-F5344CB8AC3E}">
        <p14:creationId xmlns:p14="http://schemas.microsoft.com/office/powerpoint/2010/main" val="39760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9CB5-4AE3-EC65-3211-C3BCC16C8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FEC7C-403E-8D34-C407-C1B6465C1FFE}"/>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27B793CA-1CC7-7690-C8DB-34C7EFBFC6BE}"/>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Deep Learning in Scikit-Learn</a:t>
            </a:r>
          </a:p>
        </p:txBody>
      </p:sp>
      <p:sp>
        <p:nvSpPr>
          <p:cNvPr id="3" name="TextBox 2">
            <a:extLst>
              <a:ext uri="{FF2B5EF4-FFF2-40B4-BE49-F238E27FC236}">
                <a16:creationId xmlns:a16="http://schemas.microsoft.com/office/drawing/2014/main" id="{BB0F9C4B-1C75-7F0E-991F-0E175903202A}"/>
              </a:ext>
            </a:extLst>
          </p:cNvPr>
          <p:cNvSpPr txBox="1"/>
          <p:nvPr/>
        </p:nvSpPr>
        <p:spPr>
          <a:xfrm>
            <a:off x="1317523" y="2538833"/>
            <a:ext cx="9556954" cy="1754326"/>
          </a:xfrm>
          <a:prstGeom prst="rect">
            <a:avLst/>
          </a:prstGeom>
          <a:noFill/>
        </p:spPr>
        <p:txBody>
          <a:bodyPr wrap="square" rtlCol="0">
            <a:spAutoFit/>
          </a:bodyPr>
          <a:lstStyle/>
          <a:p>
            <a:r>
              <a:rPr lang="en-US" dirty="0">
                <a:latin typeface="Anuphan" pitchFamily="2" charset="-34"/>
                <a:cs typeface="Anuphan" pitchFamily="2" charset="-34"/>
              </a:rPr>
              <a:t>Scikit-learn supports simple neural networks through its </a:t>
            </a:r>
            <a:r>
              <a:rPr lang="en-US" b="1" dirty="0">
                <a:latin typeface="Anuphan" pitchFamily="2" charset="-34"/>
                <a:cs typeface="Anuphan" pitchFamily="2" charset="-34"/>
              </a:rPr>
              <a:t>MLP (Multi-Layer Perceptron)</a:t>
            </a:r>
            <a:r>
              <a:rPr lang="en-US" dirty="0">
                <a:latin typeface="Anuphan" pitchFamily="2" charset="-34"/>
                <a:cs typeface="Anuphan" pitchFamily="2" charset="-34"/>
              </a:rPr>
              <a:t> classifier and regressor. You can define the number of hidden layers, the number of neurons per layer, and the activation function. However, for more complex deep learning tasks like image recognition, natural language processing, or custom architectures, you would step outside scikit-learn and use dedicated frameworks like </a:t>
            </a:r>
            <a:r>
              <a:rPr lang="en-US" b="1" dirty="0">
                <a:latin typeface="Anuphan" pitchFamily="2" charset="-34"/>
                <a:cs typeface="Anuphan" pitchFamily="2" charset="-34"/>
              </a:rPr>
              <a:t>TensorFlow/</a:t>
            </a:r>
            <a:r>
              <a:rPr lang="en-US" b="1" dirty="0" err="1">
                <a:latin typeface="Anuphan" pitchFamily="2" charset="-34"/>
                <a:cs typeface="Anuphan" pitchFamily="2" charset="-34"/>
              </a:rPr>
              <a:t>Keras</a:t>
            </a:r>
            <a:r>
              <a:rPr lang="en-US" dirty="0">
                <a:latin typeface="Anuphan" pitchFamily="2" charset="-34"/>
                <a:cs typeface="Anuphan" pitchFamily="2" charset="-34"/>
              </a:rPr>
              <a:t> or </a:t>
            </a:r>
            <a:r>
              <a:rPr lang="en-US" b="1" dirty="0" err="1">
                <a:latin typeface="Anuphan" pitchFamily="2" charset="-34"/>
                <a:cs typeface="Anuphan" pitchFamily="2" charset="-34"/>
              </a:rPr>
              <a:t>PyTorch</a:t>
            </a:r>
            <a:r>
              <a:rPr lang="en-US" dirty="0">
                <a:latin typeface="Anuphan" pitchFamily="2" charset="-34"/>
                <a:cs typeface="Anuphan" pitchFamily="2" charset="-34"/>
              </a:rPr>
              <a:t>, which offer far more flexibility and power.</a:t>
            </a:r>
          </a:p>
        </p:txBody>
      </p:sp>
    </p:spTree>
    <p:extLst>
      <p:ext uri="{BB962C8B-B14F-4D97-AF65-F5344CB8AC3E}">
        <p14:creationId xmlns:p14="http://schemas.microsoft.com/office/powerpoint/2010/main" val="24912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54FB5-10D6-E978-ED42-2B5BDC789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1D1C78-1FC9-6EB6-D0B1-B29C4AA6FBE4}"/>
              </a:ext>
            </a:extLst>
          </p:cNvPr>
          <p:cNvSpPr>
            <a:spLocks noGrp="1"/>
          </p:cNvSpPr>
          <p:nvPr>
            <p:ph type="ctrTitle"/>
          </p:nvPr>
        </p:nvSpPr>
        <p:spPr>
          <a:xfrm>
            <a:off x="1317523" y="983225"/>
            <a:ext cx="9556954" cy="825910"/>
          </a:xfrm>
        </p:spPr>
        <p:txBody>
          <a:bodyPr>
            <a:noAutofit/>
          </a:bodyPr>
          <a:lstStyle/>
          <a:p>
            <a:pPr algn="l"/>
            <a:r>
              <a:rPr lang="en-US" sz="4000" dirty="0">
                <a:latin typeface="Anuphan" pitchFamily="2" charset="-34"/>
                <a:cs typeface="Anuphan" pitchFamily="2" charset="-34"/>
              </a:rPr>
              <a:t>Using ML/DL in Scikit-Learn</a:t>
            </a:r>
            <a:endParaRPr lang="en-US" sz="4000" b="1" dirty="0">
              <a:solidFill>
                <a:schemeClr val="tx1">
                  <a:lumMod val="75000"/>
                  <a:lumOff val="25000"/>
                </a:schemeClr>
              </a:solidFill>
              <a:latin typeface="Anuphan" pitchFamily="2" charset="-34"/>
              <a:cs typeface="Anuphan" pitchFamily="2" charset="-34"/>
            </a:endParaRPr>
          </a:p>
        </p:txBody>
      </p:sp>
      <p:sp>
        <p:nvSpPr>
          <p:cNvPr id="4" name="TextBox 3">
            <a:extLst>
              <a:ext uri="{FF2B5EF4-FFF2-40B4-BE49-F238E27FC236}">
                <a16:creationId xmlns:a16="http://schemas.microsoft.com/office/drawing/2014/main" id="{58C4E11D-2752-8723-15CE-2F47BC11CD40}"/>
              </a:ext>
            </a:extLst>
          </p:cNvPr>
          <p:cNvSpPr txBox="1"/>
          <p:nvPr/>
        </p:nvSpPr>
        <p:spPr>
          <a:xfrm>
            <a:off x="1317523" y="2015613"/>
            <a:ext cx="9556954" cy="523220"/>
          </a:xfrm>
          <a:prstGeom prst="rect">
            <a:avLst/>
          </a:prstGeom>
          <a:noFill/>
        </p:spPr>
        <p:txBody>
          <a:bodyPr wrap="square" rtlCol="0">
            <a:spAutoFit/>
          </a:bodyPr>
          <a:lstStyle/>
          <a:p>
            <a:r>
              <a:rPr lang="en-US" sz="2800" b="1" dirty="0">
                <a:solidFill>
                  <a:schemeClr val="tx1">
                    <a:lumMod val="75000"/>
                    <a:lumOff val="25000"/>
                  </a:schemeClr>
                </a:solidFill>
                <a:latin typeface="Anuphan" pitchFamily="2" charset="-34"/>
                <a:cs typeface="Anuphan" pitchFamily="2" charset="-34"/>
              </a:rPr>
              <a:t>Overall Flow Summary</a:t>
            </a:r>
          </a:p>
        </p:txBody>
      </p:sp>
      <p:sp>
        <p:nvSpPr>
          <p:cNvPr id="3" name="TextBox 2">
            <a:extLst>
              <a:ext uri="{FF2B5EF4-FFF2-40B4-BE49-F238E27FC236}">
                <a16:creationId xmlns:a16="http://schemas.microsoft.com/office/drawing/2014/main" id="{20EDFD49-AE73-D6C8-37E5-5B6BDBF7C63B}"/>
              </a:ext>
            </a:extLst>
          </p:cNvPr>
          <p:cNvSpPr txBox="1"/>
          <p:nvPr/>
        </p:nvSpPr>
        <p:spPr>
          <a:xfrm>
            <a:off x="1317523" y="2538833"/>
            <a:ext cx="9556954" cy="1477328"/>
          </a:xfrm>
          <a:prstGeom prst="rect">
            <a:avLst/>
          </a:prstGeom>
          <a:noFill/>
        </p:spPr>
        <p:txBody>
          <a:bodyPr wrap="square" rtlCol="0">
            <a:spAutoFit/>
          </a:bodyPr>
          <a:lstStyle/>
          <a:p>
            <a:r>
              <a:rPr lang="en-US" dirty="0">
                <a:latin typeface="Anuphan" pitchFamily="2" charset="-34"/>
                <a:cs typeface="Anuphan" pitchFamily="2" charset="-34"/>
              </a:rPr>
              <a:t>The overall journey goes from </a:t>
            </a:r>
            <a:r>
              <a:rPr lang="en-US" b="1" dirty="0">
                <a:latin typeface="Anuphan" pitchFamily="2" charset="-34"/>
                <a:cs typeface="Anuphan" pitchFamily="2" charset="-34"/>
              </a:rPr>
              <a:t>loading and understanding your data</a:t>
            </a:r>
            <a:r>
              <a:rPr lang="en-US" dirty="0">
                <a:latin typeface="Anuphan" pitchFamily="2" charset="-34"/>
                <a:cs typeface="Anuphan" pitchFamily="2" charset="-34"/>
              </a:rPr>
              <a:t>, through </a:t>
            </a:r>
            <a:r>
              <a:rPr lang="en-US" b="1" dirty="0">
                <a:latin typeface="Anuphan" pitchFamily="2" charset="-34"/>
                <a:cs typeface="Anuphan" pitchFamily="2" charset="-34"/>
              </a:rPr>
              <a:t>cleaning and transforming it</a:t>
            </a:r>
            <a:r>
              <a:rPr lang="en-US" dirty="0">
                <a:latin typeface="Anuphan" pitchFamily="2" charset="-34"/>
                <a:cs typeface="Anuphan" pitchFamily="2" charset="-34"/>
              </a:rPr>
              <a:t>, then </a:t>
            </a:r>
            <a:r>
              <a:rPr lang="en-US" b="1" dirty="0">
                <a:latin typeface="Anuphan" pitchFamily="2" charset="-34"/>
                <a:cs typeface="Anuphan" pitchFamily="2" charset="-34"/>
              </a:rPr>
              <a:t>choosing and training a model</a:t>
            </a:r>
            <a:r>
              <a:rPr lang="en-US" dirty="0">
                <a:latin typeface="Anuphan" pitchFamily="2" charset="-34"/>
                <a:cs typeface="Anuphan" pitchFamily="2" charset="-34"/>
              </a:rPr>
              <a:t>, followed by </a:t>
            </a:r>
            <a:r>
              <a:rPr lang="en-US" b="1" dirty="0">
                <a:latin typeface="Anuphan" pitchFamily="2" charset="-34"/>
                <a:cs typeface="Anuphan" pitchFamily="2" charset="-34"/>
              </a:rPr>
              <a:t>evaluating and tuning it</a:t>
            </a:r>
            <a:r>
              <a:rPr lang="en-US" dirty="0">
                <a:latin typeface="Anuphan" pitchFamily="2" charset="-34"/>
                <a:cs typeface="Anuphan" pitchFamily="2" charset="-34"/>
              </a:rPr>
              <a:t>, and finally </a:t>
            </a:r>
            <a:r>
              <a:rPr lang="en-US" b="1" dirty="0">
                <a:latin typeface="Anuphan" pitchFamily="2" charset="-34"/>
                <a:cs typeface="Anuphan" pitchFamily="2" charset="-34"/>
              </a:rPr>
              <a:t>saving it for deployment</a:t>
            </a:r>
            <a:r>
              <a:rPr lang="en-US" dirty="0">
                <a:latin typeface="Anuphan" pitchFamily="2" charset="-34"/>
                <a:cs typeface="Anuphan" pitchFamily="2" charset="-34"/>
              </a:rPr>
              <a:t>. Each step builds on the previous one, and skipping or rushing any step typically leads to a model that performs poorly in the real world.</a:t>
            </a:r>
          </a:p>
        </p:txBody>
      </p:sp>
    </p:spTree>
    <p:extLst>
      <p:ext uri="{BB962C8B-B14F-4D97-AF65-F5344CB8AC3E}">
        <p14:creationId xmlns:p14="http://schemas.microsoft.com/office/powerpoint/2010/main" val="562202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C53C-4FE7-20C1-CE0F-DF4429562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F0B57-8329-2616-3C32-BFB7D93B7C39}"/>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F846C4E3-3F65-83E9-2EA8-CAE002FF9A96}"/>
              </a:ext>
            </a:extLst>
          </p:cNvPr>
          <p:cNvSpPr txBox="1"/>
          <p:nvPr/>
        </p:nvSpPr>
        <p:spPr>
          <a:xfrm>
            <a:off x="1317523" y="2015613"/>
            <a:ext cx="9556954" cy="954107"/>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We will use data from </a:t>
            </a:r>
          </a:p>
          <a:p>
            <a:r>
              <a:rPr lang="en-US" sz="2800" dirty="0">
                <a:solidFill>
                  <a:schemeClr val="tx1">
                    <a:lumMod val="75000"/>
                    <a:lumOff val="25000"/>
                  </a:schemeClr>
                </a:solidFill>
                <a:latin typeface="Anuphan" pitchFamily="2" charset="-34"/>
                <a:cs typeface="Anuphan" pitchFamily="2" charset="-34"/>
              </a:rPr>
              <a:t>Titanic - Machine Learning from Disaster</a:t>
            </a:r>
          </a:p>
        </p:txBody>
      </p:sp>
      <p:sp>
        <p:nvSpPr>
          <p:cNvPr id="3" name="TextBox 2">
            <a:extLst>
              <a:ext uri="{FF2B5EF4-FFF2-40B4-BE49-F238E27FC236}">
                <a16:creationId xmlns:a16="http://schemas.microsoft.com/office/drawing/2014/main" id="{99C8FB55-550E-3124-40D3-CC18C2FD41C8}"/>
              </a:ext>
            </a:extLst>
          </p:cNvPr>
          <p:cNvSpPr txBox="1"/>
          <p:nvPr/>
        </p:nvSpPr>
        <p:spPr>
          <a:xfrm>
            <a:off x="1317523" y="2969720"/>
            <a:ext cx="9556954" cy="369332"/>
          </a:xfrm>
          <a:prstGeom prst="rect">
            <a:avLst/>
          </a:prstGeom>
          <a:noFill/>
        </p:spPr>
        <p:txBody>
          <a:bodyPr wrap="square" rtlCol="0">
            <a:spAutoFit/>
          </a:bodyPr>
          <a:lstStyle/>
          <a:p>
            <a:r>
              <a:rPr lang="en-US" u="sng" dirty="0">
                <a:hlinkClick r:id="rId2"/>
              </a:rPr>
              <a:t>Titanic - Machine Learning from Disaster | Kaggle</a:t>
            </a:r>
            <a:endParaRPr lang="en-US" dirty="0">
              <a:latin typeface="Anuphan" pitchFamily="2" charset="-34"/>
              <a:cs typeface="Anuphan" pitchFamily="2" charset="-34"/>
            </a:endParaRPr>
          </a:p>
        </p:txBody>
      </p:sp>
    </p:spTree>
    <p:extLst>
      <p:ext uri="{BB962C8B-B14F-4D97-AF65-F5344CB8AC3E}">
        <p14:creationId xmlns:p14="http://schemas.microsoft.com/office/powerpoint/2010/main" val="3536491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6E102-DF3C-01E7-D4CA-8B064039A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0B4CD-BAE2-397C-4832-1C9B20CC8598}"/>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FB997FBF-62DD-8388-AF90-FBD8F9D09DC1}"/>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And all of this made by Claude</a:t>
            </a:r>
          </a:p>
        </p:txBody>
      </p:sp>
      <p:pic>
        <p:nvPicPr>
          <p:cNvPr id="11" name="Picture 10">
            <a:extLst>
              <a:ext uri="{FF2B5EF4-FFF2-40B4-BE49-F238E27FC236}">
                <a16:creationId xmlns:a16="http://schemas.microsoft.com/office/drawing/2014/main" id="{A621C7A4-5F3E-5650-A047-3541D8EFC9FC}"/>
              </a:ext>
            </a:extLst>
          </p:cNvPr>
          <p:cNvPicPr>
            <a:picLocks noChangeAspect="1"/>
          </p:cNvPicPr>
          <p:nvPr/>
        </p:nvPicPr>
        <p:blipFill>
          <a:blip r:embed="rId2"/>
          <a:stretch>
            <a:fillRect/>
          </a:stretch>
        </p:blipFill>
        <p:spPr>
          <a:xfrm>
            <a:off x="2104468" y="2861639"/>
            <a:ext cx="7983064" cy="2915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87839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893F8-8A4B-DF65-7C49-3880851440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EB86C-68AC-2508-5113-D71C951FE7F6}"/>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6F1CA9E8-762C-6B4D-1785-BC83930F25E0}"/>
              </a:ext>
            </a:extLst>
          </p:cNvPr>
          <p:cNvSpPr txBox="1"/>
          <p:nvPr/>
        </p:nvSpPr>
        <p:spPr>
          <a:xfrm>
            <a:off x="1317523" y="2015613"/>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1E692BD7-C857-F55F-EAD0-57CCF2C8DF9B}"/>
              </a:ext>
            </a:extLst>
          </p:cNvPr>
          <p:cNvPicPr>
            <a:picLocks noChangeAspect="1"/>
          </p:cNvPicPr>
          <p:nvPr/>
        </p:nvPicPr>
        <p:blipFill>
          <a:blip r:embed="rId2"/>
          <a:stretch>
            <a:fillRect/>
          </a:stretch>
        </p:blipFill>
        <p:spPr>
          <a:xfrm>
            <a:off x="1498676" y="3236922"/>
            <a:ext cx="9194648" cy="17803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188171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BF3C1-A402-ED28-3D61-C4CAEFBCF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FEC36-90F4-F334-DC95-F63B1FAB75EA}"/>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843225F3-6257-6D5F-0A02-A12FEA32C23A}"/>
              </a:ext>
            </a:extLst>
          </p:cNvPr>
          <p:cNvSpPr txBox="1"/>
          <p:nvPr/>
        </p:nvSpPr>
        <p:spPr>
          <a:xfrm>
            <a:off x="1317523" y="1809135"/>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33970E66-1B65-2735-817F-2ED6A58DAD2D}"/>
              </a:ext>
            </a:extLst>
          </p:cNvPr>
          <p:cNvPicPr>
            <a:picLocks noChangeAspect="1"/>
          </p:cNvPicPr>
          <p:nvPr/>
        </p:nvPicPr>
        <p:blipFill>
          <a:blip r:embed="rId2"/>
          <a:stretch>
            <a:fillRect/>
          </a:stretch>
        </p:blipFill>
        <p:spPr>
          <a:xfrm>
            <a:off x="2085415" y="2538834"/>
            <a:ext cx="8021169" cy="382005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470379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E428C-4034-5E05-4A8F-92ABF623B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5A4030-49B7-90E5-7DCE-41D87AA1419D}"/>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C620676B-85D3-D1BB-BB4D-62BACA7B0B01}"/>
              </a:ext>
            </a:extLst>
          </p:cNvPr>
          <p:cNvSpPr txBox="1"/>
          <p:nvPr/>
        </p:nvSpPr>
        <p:spPr>
          <a:xfrm>
            <a:off x="1317523" y="1809135"/>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83A46363-7291-FE4E-334B-912E6CA0A930}"/>
              </a:ext>
            </a:extLst>
          </p:cNvPr>
          <p:cNvPicPr>
            <a:picLocks noChangeAspect="1"/>
          </p:cNvPicPr>
          <p:nvPr/>
        </p:nvPicPr>
        <p:blipFill>
          <a:blip r:embed="rId2"/>
          <a:stretch>
            <a:fillRect/>
          </a:stretch>
        </p:blipFill>
        <p:spPr>
          <a:xfrm>
            <a:off x="2644877" y="2419418"/>
            <a:ext cx="6902246" cy="39441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892178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7FEF-8453-2422-E51A-5C3F4B9D7C6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7A7C7A7-D3ED-3EC1-2339-4CF3D85DFEEF}"/>
              </a:ext>
            </a:extLst>
          </p:cNvPr>
          <p:cNvPicPr>
            <a:picLocks noChangeAspect="1"/>
          </p:cNvPicPr>
          <p:nvPr/>
        </p:nvPicPr>
        <p:blipFill>
          <a:blip r:embed="rId2"/>
          <a:stretch>
            <a:fillRect/>
          </a:stretch>
        </p:blipFill>
        <p:spPr>
          <a:xfrm>
            <a:off x="2133047" y="251969"/>
            <a:ext cx="7925906" cy="63540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954502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7EFE4-ACD7-9BD4-DF6F-049A8E1D3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020A5-4552-3B43-5054-14C3D13C2388}"/>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3B85D773-E3A4-1A1E-EC3F-6213FC444FC8}"/>
              </a:ext>
            </a:extLst>
          </p:cNvPr>
          <p:cNvSpPr txBox="1"/>
          <p:nvPr/>
        </p:nvSpPr>
        <p:spPr>
          <a:xfrm>
            <a:off x="1317523" y="1809135"/>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01B70747-DE50-7F3B-6A8E-DCEBA705A7FF}"/>
              </a:ext>
            </a:extLst>
          </p:cNvPr>
          <p:cNvPicPr>
            <a:picLocks noChangeAspect="1"/>
          </p:cNvPicPr>
          <p:nvPr/>
        </p:nvPicPr>
        <p:blipFill>
          <a:blip r:embed="rId2"/>
          <a:stretch>
            <a:fillRect/>
          </a:stretch>
        </p:blipFill>
        <p:spPr>
          <a:xfrm>
            <a:off x="1952046" y="2635045"/>
            <a:ext cx="8287907" cy="24387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25752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59B84-3E3B-88D9-BF2A-BE66A6ED5F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0EF94-C003-B8F3-A065-610B65791273}"/>
              </a:ext>
            </a:extLst>
          </p:cNvPr>
          <p:cNvSpPr>
            <a:spLocks noGrp="1"/>
          </p:cNvSpPr>
          <p:nvPr>
            <p:ph type="ctrTitle"/>
          </p:nvPr>
        </p:nvSpPr>
        <p:spPr>
          <a:xfrm>
            <a:off x="1317523" y="983225"/>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4DD27103-A511-17EB-75C4-C3ABACAC4299}"/>
              </a:ext>
            </a:extLst>
          </p:cNvPr>
          <p:cNvSpPr txBox="1"/>
          <p:nvPr/>
        </p:nvSpPr>
        <p:spPr>
          <a:xfrm>
            <a:off x="1317523" y="1809135"/>
            <a:ext cx="9556954" cy="523220"/>
          </a:xfrm>
          <a:prstGeom prst="rect">
            <a:avLst/>
          </a:prstGeom>
          <a:noFill/>
        </p:spPr>
        <p:txBody>
          <a:bodyPr wrap="square" rtlCol="0">
            <a:spAutoFit/>
          </a:bodyPr>
          <a:lstStyle/>
          <a:p>
            <a:r>
              <a:rPr lang="en-US" sz="28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41180EAF-FFFC-C460-5D35-ABBA808DAB50}"/>
              </a:ext>
            </a:extLst>
          </p:cNvPr>
          <p:cNvPicPr>
            <a:picLocks noChangeAspect="1"/>
          </p:cNvPicPr>
          <p:nvPr/>
        </p:nvPicPr>
        <p:blipFill>
          <a:blip r:embed="rId2"/>
          <a:stretch>
            <a:fillRect/>
          </a:stretch>
        </p:blipFill>
        <p:spPr>
          <a:xfrm>
            <a:off x="2261418" y="2454247"/>
            <a:ext cx="7669164" cy="41427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85426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DE074-6DB7-34C6-0834-63B16D4EDB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D3829-7718-1F8D-17D0-B23F20B644CA}"/>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FED794D8-CAA4-D71B-9145-F897B98A6F3A}"/>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BBE8039D-8EA5-1ABF-D3AE-5E1C4480DBFD}"/>
              </a:ext>
            </a:extLst>
          </p:cNvPr>
          <p:cNvPicPr>
            <a:picLocks noChangeAspect="1"/>
          </p:cNvPicPr>
          <p:nvPr/>
        </p:nvPicPr>
        <p:blipFill>
          <a:blip r:embed="rId2"/>
          <a:stretch>
            <a:fillRect/>
          </a:stretch>
        </p:blipFill>
        <p:spPr>
          <a:xfrm>
            <a:off x="2047310" y="1720644"/>
            <a:ext cx="8097380" cy="47155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06688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B3F58-A031-0697-3CC1-04A19132D5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FD84D-3674-7617-4630-E1972BE0934D}"/>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B15A6D80-4D36-F328-E4EB-9AED0E8B38AC}"/>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sp>
        <p:nvSpPr>
          <p:cNvPr id="3" name="TextBox 2">
            <a:extLst>
              <a:ext uri="{FF2B5EF4-FFF2-40B4-BE49-F238E27FC236}">
                <a16:creationId xmlns:a16="http://schemas.microsoft.com/office/drawing/2014/main" id="{D91AB0A8-FE47-64A3-9417-DDE40215B394}"/>
              </a:ext>
            </a:extLst>
          </p:cNvPr>
          <p:cNvSpPr txBox="1"/>
          <p:nvPr/>
        </p:nvSpPr>
        <p:spPr>
          <a:xfrm>
            <a:off x="1317523" y="1497796"/>
            <a:ext cx="9556954" cy="584775"/>
          </a:xfrm>
          <a:prstGeom prst="rect">
            <a:avLst/>
          </a:prstGeom>
          <a:noFill/>
        </p:spPr>
        <p:txBody>
          <a:bodyPr wrap="square" rtlCol="0">
            <a:spAutoFit/>
          </a:bodyPr>
          <a:lstStyle/>
          <a:p>
            <a:r>
              <a:rPr lang="en-US" sz="3200" dirty="0">
                <a:solidFill>
                  <a:schemeClr val="tx1">
                    <a:lumMod val="75000"/>
                    <a:lumOff val="25000"/>
                  </a:schemeClr>
                </a:solidFill>
                <a:latin typeface="Anuphan" pitchFamily="2" charset="-34"/>
                <a:cs typeface="Anuphan" pitchFamily="2" charset="-34"/>
              </a:rPr>
              <a:t>One-Hot Encoding</a:t>
            </a:r>
          </a:p>
        </p:txBody>
      </p:sp>
      <p:pic>
        <p:nvPicPr>
          <p:cNvPr id="7" name="Picture 6">
            <a:extLst>
              <a:ext uri="{FF2B5EF4-FFF2-40B4-BE49-F238E27FC236}">
                <a16:creationId xmlns:a16="http://schemas.microsoft.com/office/drawing/2014/main" id="{61FD1679-E62C-5C7A-B7A6-3EA3BC0F022D}"/>
              </a:ext>
            </a:extLst>
          </p:cNvPr>
          <p:cNvPicPr>
            <a:picLocks noChangeAspect="1"/>
          </p:cNvPicPr>
          <p:nvPr/>
        </p:nvPicPr>
        <p:blipFill>
          <a:blip r:embed="rId2"/>
          <a:stretch>
            <a:fillRect/>
          </a:stretch>
        </p:blipFill>
        <p:spPr>
          <a:xfrm>
            <a:off x="2142573" y="2139106"/>
            <a:ext cx="7906853" cy="40963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50341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7F87-7179-861C-481D-2D49C63AE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3A40B-B3F6-667C-D8BC-72C9772A257D}"/>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19FBB029-F3DE-C80C-12FD-EE7F8302CB4F}"/>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sp>
        <p:nvSpPr>
          <p:cNvPr id="3" name="TextBox 2">
            <a:extLst>
              <a:ext uri="{FF2B5EF4-FFF2-40B4-BE49-F238E27FC236}">
                <a16:creationId xmlns:a16="http://schemas.microsoft.com/office/drawing/2014/main" id="{CD71DCB3-F395-1BE2-DDB0-BE392CB0A0E9}"/>
              </a:ext>
            </a:extLst>
          </p:cNvPr>
          <p:cNvSpPr txBox="1"/>
          <p:nvPr/>
        </p:nvSpPr>
        <p:spPr>
          <a:xfrm>
            <a:off x="1317523" y="1497796"/>
            <a:ext cx="9556954" cy="584775"/>
          </a:xfrm>
          <a:prstGeom prst="rect">
            <a:avLst/>
          </a:prstGeom>
          <a:noFill/>
        </p:spPr>
        <p:txBody>
          <a:bodyPr wrap="square" rtlCol="0">
            <a:spAutoFit/>
          </a:bodyPr>
          <a:lstStyle/>
          <a:p>
            <a:r>
              <a:rPr lang="en-US" sz="3200" dirty="0">
                <a:solidFill>
                  <a:schemeClr val="tx1">
                    <a:lumMod val="75000"/>
                    <a:lumOff val="25000"/>
                  </a:schemeClr>
                </a:solidFill>
                <a:latin typeface="Anuphan" pitchFamily="2" charset="-34"/>
                <a:cs typeface="Anuphan" pitchFamily="2" charset="-34"/>
              </a:rPr>
              <a:t>One-Hot Encoding</a:t>
            </a:r>
          </a:p>
        </p:txBody>
      </p:sp>
      <p:sp>
        <p:nvSpPr>
          <p:cNvPr id="5" name="TextBox 4">
            <a:extLst>
              <a:ext uri="{FF2B5EF4-FFF2-40B4-BE49-F238E27FC236}">
                <a16:creationId xmlns:a16="http://schemas.microsoft.com/office/drawing/2014/main" id="{A3CF048D-98E9-B5B9-F3BE-78D40C7836B4}"/>
              </a:ext>
            </a:extLst>
          </p:cNvPr>
          <p:cNvSpPr txBox="1"/>
          <p:nvPr/>
        </p:nvSpPr>
        <p:spPr>
          <a:xfrm>
            <a:off x="1317523" y="2128737"/>
            <a:ext cx="9556954" cy="1938992"/>
          </a:xfrm>
          <a:prstGeom prst="rect">
            <a:avLst/>
          </a:prstGeom>
          <a:noFill/>
        </p:spPr>
        <p:txBody>
          <a:bodyPr wrap="square" rtlCol="0">
            <a:spAutoFit/>
          </a:bodyPr>
          <a:lstStyle/>
          <a:p>
            <a:r>
              <a:rPr lang="en-US" sz="2000" b="1" dirty="0" err="1">
                <a:solidFill>
                  <a:schemeClr val="tx1">
                    <a:lumMod val="75000"/>
                    <a:lumOff val="25000"/>
                  </a:schemeClr>
                </a:solidFill>
                <a:latin typeface="Anuphan" pitchFamily="2" charset="-34"/>
                <a:cs typeface="Anuphan" pitchFamily="2" charset="-34"/>
              </a:rPr>
              <a:t>pandas.get_dummies</a:t>
            </a:r>
            <a:r>
              <a:rPr lang="en-US" sz="2000" b="1" dirty="0">
                <a:solidFill>
                  <a:schemeClr val="tx1">
                    <a:lumMod val="75000"/>
                    <a:lumOff val="25000"/>
                  </a:schemeClr>
                </a:solidFill>
                <a:latin typeface="Anuphan" pitchFamily="2" charset="-34"/>
                <a:cs typeface="Anuphan" pitchFamily="2" charset="-34"/>
              </a:rPr>
              <a:t>() </a:t>
            </a:r>
            <a:r>
              <a:rPr lang="en-US" sz="2000" dirty="0">
                <a:solidFill>
                  <a:schemeClr val="tx1">
                    <a:lumMod val="75000"/>
                    <a:lumOff val="25000"/>
                  </a:schemeClr>
                </a:solidFill>
                <a:latin typeface="Anuphan" pitchFamily="2" charset="-34"/>
                <a:cs typeface="Anuphan" pitchFamily="2" charset="-34"/>
              </a:rPr>
              <a:t>is a pandas function that automatically applies one-hot encoding to categorical columns.</a:t>
            </a:r>
          </a:p>
          <a:p>
            <a:r>
              <a:rPr lang="en-US" sz="2000" dirty="0">
                <a:solidFill>
                  <a:schemeClr val="tx1">
                    <a:lumMod val="75000"/>
                    <a:lumOff val="25000"/>
                  </a:schemeClr>
                </a:solidFill>
                <a:latin typeface="Anuphan" pitchFamily="2" charset="-34"/>
                <a:cs typeface="Anuphan" pitchFamily="2" charset="-34"/>
              </a:rPr>
              <a:t>It </a:t>
            </a:r>
            <a:r>
              <a:rPr lang="en-US" sz="2000" b="1" dirty="0">
                <a:solidFill>
                  <a:schemeClr val="tx1">
                    <a:lumMod val="75000"/>
                    <a:lumOff val="25000"/>
                  </a:schemeClr>
                </a:solidFill>
                <a:latin typeface="Anuphan" pitchFamily="2" charset="-34"/>
                <a:cs typeface="Anuphan" pitchFamily="2" charset="-34"/>
              </a:rPr>
              <a:t>automatically creates binary columns </a:t>
            </a:r>
            <a:r>
              <a:rPr lang="en-US" sz="2000" dirty="0">
                <a:solidFill>
                  <a:schemeClr val="tx1">
                    <a:lumMod val="75000"/>
                    <a:lumOff val="25000"/>
                  </a:schemeClr>
                </a:solidFill>
                <a:latin typeface="Anuphan" pitchFamily="2" charset="-34"/>
                <a:cs typeface="Anuphan" pitchFamily="2" charset="-34"/>
              </a:rPr>
              <a:t>for each unique value — so it saves you from manually creating them yourself.</a:t>
            </a:r>
          </a:p>
          <a:p>
            <a:endParaRPr lang="en-US" sz="2000" dirty="0">
              <a:solidFill>
                <a:schemeClr val="tx1">
                  <a:lumMod val="75000"/>
                  <a:lumOff val="25000"/>
                </a:schemeClr>
              </a:solidFill>
              <a:latin typeface="Anuphan" pitchFamily="2" charset="-34"/>
              <a:cs typeface="Anuphan" pitchFamily="2" charset="-34"/>
            </a:endParaRPr>
          </a:p>
          <a:p>
            <a:r>
              <a:rPr lang="en-US" sz="2000" dirty="0" err="1">
                <a:hlinkClick r:id="rId2"/>
              </a:rPr>
              <a:t>pandas.get_dummies</a:t>
            </a:r>
            <a:r>
              <a:rPr lang="en-US" sz="2000" dirty="0">
                <a:hlinkClick r:id="rId2"/>
              </a:rPr>
              <a:t> — pandas 3.0.2 documentation</a:t>
            </a:r>
            <a:endParaRPr lang="en-US" sz="2000"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447352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9B7C4-8AD2-977B-308A-91F2829B3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53C10-1F7C-E6EE-D355-47B421CBE53E}"/>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3250700C-949E-C23E-59B5-6A97169B0BDE}"/>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sp>
        <p:nvSpPr>
          <p:cNvPr id="3" name="TextBox 2">
            <a:extLst>
              <a:ext uri="{FF2B5EF4-FFF2-40B4-BE49-F238E27FC236}">
                <a16:creationId xmlns:a16="http://schemas.microsoft.com/office/drawing/2014/main" id="{C0DEC66D-38D4-A802-9BD4-FD48A4AF4ADA}"/>
              </a:ext>
            </a:extLst>
          </p:cNvPr>
          <p:cNvSpPr txBox="1"/>
          <p:nvPr/>
        </p:nvSpPr>
        <p:spPr>
          <a:xfrm>
            <a:off x="1317523" y="1497796"/>
            <a:ext cx="9556954" cy="584775"/>
          </a:xfrm>
          <a:prstGeom prst="rect">
            <a:avLst/>
          </a:prstGeom>
          <a:noFill/>
        </p:spPr>
        <p:txBody>
          <a:bodyPr wrap="square" rtlCol="0">
            <a:spAutoFit/>
          </a:bodyPr>
          <a:lstStyle/>
          <a:p>
            <a:r>
              <a:rPr lang="en-US" sz="3200" dirty="0">
                <a:solidFill>
                  <a:schemeClr val="tx1">
                    <a:lumMod val="75000"/>
                    <a:lumOff val="25000"/>
                  </a:schemeClr>
                </a:solidFill>
                <a:latin typeface="Anuphan" pitchFamily="2" charset="-34"/>
                <a:cs typeface="Anuphan" pitchFamily="2" charset="-34"/>
              </a:rPr>
              <a:t>One-Hot Encoding</a:t>
            </a:r>
          </a:p>
        </p:txBody>
      </p:sp>
      <p:pic>
        <p:nvPicPr>
          <p:cNvPr id="6" name="Picture 5">
            <a:extLst>
              <a:ext uri="{FF2B5EF4-FFF2-40B4-BE49-F238E27FC236}">
                <a16:creationId xmlns:a16="http://schemas.microsoft.com/office/drawing/2014/main" id="{A84609A1-61F1-8B91-2135-F497D131F1E8}"/>
              </a:ext>
            </a:extLst>
          </p:cNvPr>
          <p:cNvPicPr>
            <a:picLocks noChangeAspect="1"/>
          </p:cNvPicPr>
          <p:nvPr/>
        </p:nvPicPr>
        <p:blipFill>
          <a:blip r:embed="rId2"/>
          <a:stretch>
            <a:fillRect/>
          </a:stretch>
        </p:blipFill>
        <p:spPr>
          <a:xfrm>
            <a:off x="1532438" y="2182392"/>
            <a:ext cx="9127124" cy="35163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44486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3388-1496-96FE-D15B-F84C0D70B2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55CAA-7A4E-7DCA-A5D1-A7CD53D15ED2}"/>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1F1ED3E5-BD15-4A97-7E17-BAC17C25DB3D}"/>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7A39C01B-D377-2E70-D9E5-0E88FE6E0CE4}"/>
              </a:ext>
            </a:extLst>
          </p:cNvPr>
          <p:cNvPicPr>
            <a:picLocks noChangeAspect="1"/>
          </p:cNvPicPr>
          <p:nvPr/>
        </p:nvPicPr>
        <p:blipFill>
          <a:blip r:embed="rId2"/>
          <a:stretch>
            <a:fillRect/>
          </a:stretch>
        </p:blipFill>
        <p:spPr>
          <a:xfrm>
            <a:off x="1632914" y="1642117"/>
            <a:ext cx="8926171" cy="47536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82666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ACD21-61DF-D37B-F781-8B6B5117BC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B0D77-5EE6-6AE4-3CC9-E9EF2C0346D1}"/>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0970643A-6719-F343-1E52-7BB8D462F11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FF7A6910-BD15-0847-15FB-E00775DE25D9}"/>
              </a:ext>
            </a:extLst>
          </p:cNvPr>
          <p:cNvPicPr>
            <a:picLocks noChangeAspect="1"/>
          </p:cNvPicPr>
          <p:nvPr/>
        </p:nvPicPr>
        <p:blipFill>
          <a:blip r:embed="rId2"/>
          <a:stretch>
            <a:fillRect/>
          </a:stretch>
        </p:blipFill>
        <p:spPr>
          <a:xfrm>
            <a:off x="2540962" y="1973454"/>
            <a:ext cx="7110076" cy="29110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A8CD694F-A91B-400D-0BDB-76A3D7E8664D}"/>
              </a:ext>
            </a:extLst>
          </p:cNvPr>
          <p:cNvSpPr txBox="1"/>
          <p:nvPr/>
        </p:nvSpPr>
        <p:spPr>
          <a:xfrm>
            <a:off x="1317523" y="1465623"/>
            <a:ext cx="9556954" cy="338554"/>
          </a:xfrm>
          <a:prstGeom prst="rect">
            <a:avLst/>
          </a:prstGeom>
          <a:noFill/>
        </p:spPr>
        <p:txBody>
          <a:bodyPr wrap="square" rtlCol="0">
            <a:spAutoFit/>
          </a:bodyPr>
          <a:lstStyle/>
          <a:p>
            <a:r>
              <a:rPr lang="en-US" sz="1600" dirty="0">
                <a:solidFill>
                  <a:srgbClr val="FF0000"/>
                </a:solidFill>
                <a:latin typeface="Anuphan" pitchFamily="2" charset="-34"/>
                <a:cs typeface="Anuphan" pitchFamily="2" charset="-34"/>
              </a:rPr>
              <a:t>** X shape should be 8 columns. **</a:t>
            </a:r>
          </a:p>
        </p:txBody>
      </p:sp>
    </p:spTree>
    <p:extLst>
      <p:ext uri="{BB962C8B-B14F-4D97-AF65-F5344CB8AC3E}">
        <p14:creationId xmlns:p14="http://schemas.microsoft.com/office/powerpoint/2010/main" val="104175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932E0-FB7A-A746-7B7E-C78277101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DBCDC3-6689-5A37-6290-83EB127C9E71}"/>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E2C34876-A3DC-14B4-97BD-D3F7FF4095CD}"/>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767FB76C-6C8E-2266-1615-66ED57FE24CA}"/>
              </a:ext>
            </a:extLst>
          </p:cNvPr>
          <p:cNvPicPr>
            <a:picLocks noChangeAspect="1"/>
          </p:cNvPicPr>
          <p:nvPr/>
        </p:nvPicPr>
        <p:blipFill>
          <a:blip r:embed="rId2"/>
          <a:stretch>
            <a:fillRect/>
          </a:stretch>
        </p:blipFill>
        <p:spPr>
          <a:xfrm>
            <a:off x="1838631" y="1711990"/>
            <a:ext cx="8514738" cy="48126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7618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29538-0CE7-83E7-8A50-50A14D0C7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9CB43-6CDD-D3E1-C115-ED364EA1F2C2}"/>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85CECEAD-A542-1D7E-6370-849B64762BC7}"/>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5996CB27-CD9A-2F1C-5DF9-8C448BC1784E}"/>
              </a:ext>
            </a:extLst>
          </p:cNvPr>
          <p:cNvPicPr>
            <a:picLocks noChangeAspect="1"/>
          </p:cNvPicPr>
          <p:nvPr/>
        </p:nvPicPr>
        <p:blipFill>
          <a:blip r:embed="rId2"/>
          <a:stretch>
            <a:fillRect/>
          </a:stretch>
        </p:blipFill>
        <p:spPr>
          <a:xfrm>
            <a:off x="1694836" y="1791478"/>
            <a:ext cx="8802328" cy="425826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600117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A02A2-7C4D-349D-6D26-F8F343EDC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C38FA0-C6D6-7E01-5F03-3D1519137D7F}"/>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8F235DF1-EE7C-A16D-8A4A-C4FB43257581}"/>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9410E6E7-7D37-FF4E-831D-22DA5C457C39}"/>
              </a:ext>
            </a:extLst>
          </p:cNvPr>
          <p:cNvPicPr>
            <a:picLocks noChangeAspect="1"/>
          </p:cNvPicPr>
          <p:nvPr/>
        </p:nvPicPr>
        <p:blipFill>
          <a:blip r:embed="rId2"/>
          <a:stretch>
            <a:fillRect/>
          </a:stretch>
        </p:blipFill>
        <p:spPr>
          <a:xfrm>
            <a:off x="1700981" y="1611769"/>
            <a:ext cx="8790038" cy="49734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649649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B3D8D-AB53-5D3B-D660-870DB39E59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F7C04-2100-7216-2DAE-41FFA2DF7C05}"/>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CE46B9F0-BD92-A4A5-C072-F8900ACB8D77}"/>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986898DA-1333-4541-2FD3-8C6AD1864FD5}"/>
              </a:ext>
            </a:extLst>
          </p:cNvPr>
          <p:cNvPicPr>
            <a:picLocks noChangeAspect="1"/>
          </p:cNvPicPr>
          <p:nvPr/>
        </p:nvPicPr>
        <p:blipFill>
          <a:blip r:embed="rId2"/>
          <a:stretch>
            <a:fillRect/>
          </a:stretch>
        </p:blipFill>
        <p:spPr>
          <a:xfrm>
            <a:off x="2084439" y="1571593"/>
            <a:ext cx="8023122" cy="471997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82953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BD4AB-3C1C-8145-1170-7A9B31537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AB189-3E69-2D55-0ECE-D21E649F6F93}"/>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An Example of Data Preparation for ML</a:t>
            </a:r>
          </a:p>
        </p:txBody>
      </p:sp>
      <p:sp>
        <p:nvSpPr>
          <p:cNvPr id="4" name="TextBox 3">
            <a:extLst>
              <a:ext uri="{FF2B5EF4-FFF2-40B4-BE49-F238E27FC236}">
                <a16:creationId xmlns:a16="http://schemas.microsoft.com/office/drawing/2014/main" id="{E762D914-7188-C58D-1F9C-FEB6EDC1258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8" name="Graphic 7">
            <a:extLst>
              <a:ext uri="{FF2B5EF4-FFF2-40B4-BE49-F238E27FC236}">
                <a16:creationId xmlns:a16="http://schemas.microsoft.com/office/drawing/2014/main" id="{E86AA49A-CCAD-52A0-9B0D-17F23DD9A1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6200000">
            <a:off x="735102" y="-1013321"/>
            <a:ext cx="10558614" cy="9720136"/>
          </a:xfrm>
          <a:prstGeom prst="rect">
            <a:avLst/>
          </a:prstGeom>
        </p:spPr>
      </p:pic>
    </p:spTree>
    <p:extLst>
      <p:ext uri="{BB962C8B-B14F-4D97-AF65-F5344CB8AC3E}">
        <p14:creationId xmlns:p14="http://schemas.microsoft.com/office/powerpoint/2010/main" val="8184992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E0980-D1C7-324B-1CFF-8178590C0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14D1C-EF4B-28ED-5318-DAFDF8C08FA3}"/>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F9D0C912-1737-2634-458E-FCBE5FD8AA4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7041233C-F6E6-EBA3-14D3-5B57461D349D}"/>
              </a:ext>
            </a:extLst>
          </p:cNvPr>
          <p:cNvPicPr>
            <a:picLocks noChangeAspect="1"/>
          </p:cNvPicPr>
          <p:nvPr/>
        </p:nvPicPr>
        <p:blipFill>
          <a:blip r:embed="rId2"/>
          <a:stretch>
            <a:fillRect/>
          </a:stretch>
        </p:blipFill>
        <p:spPr>
          <a:xfrm>
            <a:off x="1699599" y="1797287"/>
            <a:ext cx="8792802" cy="247684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2536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4D119-5F44-A6B1-B197-1BB5F622E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21945-1354-8B3D-C601-F251EBA598E6}"/>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7CF42724-AB88-8EA9-D774-65755AC6BB8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0066B3FE-98B5-64BC-BF68-3928C1CAD9A2}"/>
              </a:ext>
            </a:extLst>
          </p:cNvPr>
          <p:cNvPicPr>
            <a:picLocks noChangeAspect="1"/>
          </p:cNvPicPr>
          <p:nvPr/>
        </p:nvPicPr>
        <p:blipFill>
          <a:blip r:embed="rId2"/>
          <a:stretch>
            <a:fillRect/>
          </a:stretch>
        </p:blipFill>
        <p:spPr>
          <a:xfrm>
            <a:off x="1704362" y="1687168"/>
            <a:ext cx="8783276" cy="41915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47777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54070-F36C-BD52-AEC9-4D7900A2A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E25F0-79A5-EF94-CF4E-BDF6BE42E7A4}"/>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7A741E9F-A8A4-4038-5F0F-CD64BFC4572E}"/>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07EE248D-3A3D-6980-8085-E012AB9D6C0A}"/>
              </a:ext>
            </a:extLst>
          </p:cNvPr>
          <p:cNvPicPr>
            <a:picLocks noChangeAspect="1"/>
          </p:cNvPicPr>
          <p:nvPr/>
        </p:nvPicPr>
        <p:blipFill>
          <a:blip r:embed="rId2"/>
          <a:stretch>
            <a:fillRect/>
          </a:stretch>
        </p:blipFill>
        <p:spPr>
          <a:xfrm>
            <a:off x="2369574" y="1652532"/>
            <a:ext cx="7452852" cy="474872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95973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CD185-E635-29B2-08DD-D3867B1ED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18E59-D8BD-CA15-CCD9-AB1B63CC0479}"/>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E15E1DC-9BC5-F2ED-715E-20080CE4E4AA}"/>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AC65AE09-2254-00FC-5449-096D10608A66}"/>
              </a:ext>
            </a:extLst>
          </p:cNvPr>
          <p:cNvPicPr>
            <a:picLocks noChangeAspect="1"/>
          </p:cNvPicPr>
          <p:nvPr/>
        </p:nvPicPr>
        <p:blipFill>
          <a:blip r:embed="rId2"/>
          <a:stretch>
            <a:fillRect/>
          </a:stretch>
        </p:blipFill>
        <p:spPr>
          <a:xfrm>
            <a:off x="1671020" y="1788109"/>
            <a:ext cx="8849960" cy="19052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8114142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8F5C7-B53A-E7E6-67E2-A7659EEAB4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882A4-5D5F-1BD0-020E-ED0945759E03}"/>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929C806-9005-82B5-2615-7CBF319CE72A}"/>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88F03883-650A-2008-A1EC-1C208D6190EF}"/>
              </a:ext>
            </a:extLst>
          </p:cNvPr>
          <p:cNvPicPr>
            <a:picLocks noChangeAspect="1"/>
          </p:cNvPicPr>
          <p:nvPr/>
        </p:nvPicPr>
        <p:blipFill>
          <a:blip r:embed="rId2"/>
          <a:stretch>
            <a:fillRect/>
          </a:stretch>
        </p:blipFill>
        <p:spPr>
          <a:xfrm>
            <a:off x="1704362" y="1742839"/>
            <a:ext cx="8783276" cy="3372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7604692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47D9C-3E21-BC6C-6F88-4EF669F6D6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D68FC9-A77F-3927-1AC1-39F57E412894}"/>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ACDBA14E-63EE-0E63-A900-EFEBECA7DD3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F28E2CD3-E673-FB0D-153E-6AC95AB80FC4}"/>
              </a:ext>
            </a:extLst>
          </p:cNvPr>
          <p:cNvPicPr>
            <a:picLocks noChangeAspect="1"/>
          </p:cNvPicPr>
          <p:nvPr/>
        </p:nvPicPr>
        <p:blipFill>
          <a:blip r:embed="rId2"/>
          <a:stretch>
            <a:fillRect/>
          </a:stretch>
        </p:blipFill>
        <p:spPr>
          <a:xfrm>
            <a:off x="1547177" y="1645829"/>
            <a:ext cx="9097645" cy="437258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253868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E0491-40FB-D585-8EFD-DF0F8A6ED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F8DF0F-D97C-E139-FF13-00BED76329E8}"/>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1C9E2578-D120-590A-CC8F-C9821125E45D}"/>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sp>
        <p:nvSpPr>
          <p:cNvPr id="14" name="TextBox 13">
            <a:extLst>
              <a:ext uri="{FF2B5EF4-FFF2-40B4-BE49-F238E27FC236}">
                <a16:creationId xmlns:a16="http://schemas.microsoft.com/office/drawing/2014/main" id="{B58033DE-468B-63B7-E5F1-48AF1D8B300A}"/>
              </a:ext>
            </a:extLst>
          </p:cNvPr>
          <p:cNvSpPr txBox="1"/>
          <p:nvPr/>
        </p:nvSpPr>
        <p:spPr>
          <a:xfrm>
            <a:off x="1317523" y="1803846"/>
            <a:ext cx="6096000" cy="3894912"/>
          </a:xfrm>
          <a:prstGeom prst="rect">
            <a:avLst/>
          </a:prstGeom>
          <a:noFill/>
        </p:spPr>
        <p:txBody>
          <a:bodyPr wrap="square">
            <a:spAutoFit/>
          </a:bodyPr>
          <a:lstStyle/>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models = {</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'Logistic Regression'   : </a:t>
            </a:r>
            <a:r>
              <a:rPr lang="en-US" sz="1000" kern="100" dirty="0" err="1">
                <a:effectLst/>
                <a:latin typeface="Anuphan" pitchFamily="2" charset="-34"/>
                <a:ea typeface="Aptos" panose="020B0004020202020204" pitchFamily="34" charset="0"/>
                <a:cs typeface="Anuphan" pitchFamily="2" charset="-34"/>
              </a:rPr>
              <a:t>LogisticRegression</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random_state</a:t>
            </a:r>
            <a:r>
              <a:rPr lang="en-US" sz="1000" kern="100" dirty="0">
                <a:effectLst/>
                <a:latin typeface="Anuphan" pitchFamily="2" charset="-34"/>
                <a:ea typeface="Aptos" panose="020B0004020202020204" pitchFamily="34" charset="0"/>
                <a:cs typeface="Anuphan" pitchFamily="2" charset="-34"/>
              </a:rPr>
              <a:t>=42),</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'Decision Tree'         : </a:t>
            </a:r>
            <a:r>
              <a:rPr lang="en-US" sz="1000" kern="100" dirty="0" err="1">
                <a:effectLst/>
                <a:latin typeface="Anuphan" pitchFamily="2" charset="-34"/>
                <a:ea typeface="Aptos" panose="020B0004020202020204" pitchFamily="34" charset="0"/>
                <a:cs typeface="Anuphan" pitchFamily="2" charset="-34"/>
              </a:rPr>
              <a:t>DecisionTreeClassifier</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random_state</a:t>
            </a:r>
            <a:r>
              <a:rPr lang="en-US" sz="1000" kern="100" dirty="0">
                <a:effectLst/>
                <a:latin typeface="Anuphan" pitchFamily="2" charset="-34"/>
                <a:ea typeface="Aptos" panose="020B0004020202020204" pitchFamily="34" charset="0"/>
                <a:cs typeface="Anuphan" pitchFamily="2" charset="-34"/>
              </a:rPr>
              <a:t>=42),</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'Random Forest'         : </a:t>
            </a:r>
            <a:r>
              <a:rPr lang="en-US" sz="1000" kern="100" dirty="0" err="1">
                <a:effectLst/>
                <a:latin typeface="Anuphan" pitchFamily="2" charset="-34"/>
                <a:ea typeface="Aptos" panose="020B0004020202020204" pitchFamily="34" charset="0"/>
                <a:cs typeface="Anuphan" pitchFamily="2" charset="-34"/>
              </a:rPr>
              <a:t>RandomForestClassifier</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n_estimators</a:t>
            </a:r>
            <a:r>
              <a:rPr lang="en-US" sz="1000" kern="100" dirty="0">
                <a:effectLst/>
                <a:latin typeface="Anuphan" pitchFamily="2" charset="-34"/>
                <a:ea typeface="Aptos" panose="020B0004020202020204" pitchFamily="34" charset="0"/>
                <a:cs typeface="Anuphan" pitchFamily="2" charset="-34"/>
              </a:rPr>
              <a:t>=100, </a:t>
            </a:r>
            <a:r>
              <a:rPr lang="en-US" sz="1000" kern="100" dirty="0" err="1">
                <a:effectLst/>
                <a:latin typeface="Anuphan" pitchFamily="2" charset="-34"/>
                <a:ea typeface="Aptos" panose="020B0004020202020204" pitchFamily="34" charset="0"/>
                <a:cs typeface="Anuphan" pitchFamily="2" charset="-34"/>
              </a:rPr>
              <a:t>random_state</a:t>
            </a:r>
            <a:r>
              <a:rPr lang="en-US" sz="1000" kern="100" dirty="0">
                <a:effectLst/>
                <a:latin typeface="Anuphan" pitchFamily="2" charset="-34"/>
                <a:ea typeface="Aptos" panose="020B0004020202020204" pitchFamily="34" charset="0"/>
                <a:cs typeface="Anuphan" pitchFamily="2" charset="-34"/>
              </a:rPr>
              <a:t>=42),</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'Gradient Boosting'     : </a:t>
            </a:r>
            <a:r>
              <a:rPr lang="en-US" sz="1000" kern="100" dirty="0" err="1">
                <a:effectLst/>
                <a:latin typeface="Anuphan" pitchFamily="2" charset="-34"/>
                <a:ea typeface="Aptos" panose="020B0004020202020204" pitchFamily="34" charset="0"/>
                <a:cs typeface="Anuphan" pitchFamily="2" charset="-34"/>
              </a:rPr>
              <a:t>GradientBoostingClassifier</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random_state</a:t>
            </a:r>
            <a:r>
              <a:rPr lang="en-US" sz="1000" kern="100" dirty="0">
                <a:effectLst/>
                <a:latin typeface="Anuphan" pitchFamily="2" charset="-34"/>
                <a:ea typeface="Aptos" panose="020B0004020202020204" pitchFamily="34" charset="0"/>
                <a:cs typeface="Anuphan" pitchFamily="2" charset="-34"/>
              </a:rPr>
              <a:t>=42),</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'SVM'                   : SVC(</a:t>
            </a:r>
            <a:r>
              <a:rPr lang="en-US" sz="1000" kern="100" dirty="0" err="1">
                <a:effectLst/>
                <a:latin typeface="Anuphan" pitchFamily="2" charset="-34"/>
                <a:ea typeface="Aptos" panose="020B0004020202020204" pitchFamily="34" charset="0"/>
                <a:cs typeface="Anuphan" pitchFamily="2" charset="-34"/>
              </a:rPr>
              <a:t>random_state</a:t>
            </a:r>
            <a:r>
              <a:rPr lang="en-US" sz="1000" kern="100" dirty="0">
                <a:effectLst/>
                <a:latin typeface="Anuphan" pitchFamily="2" charset="-34"/>
                <a:ea typeface="Aptos" panose="020B0004020202020204" pitchFamily="34" charset="0"/>
                <a:cs typeface="Anuphan" pitchFamily="2" charset="-34"/>
              </a:rPr>
              <a:t>=42),</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'KNN'                   : </a:t>
            </a:r>
            <a:r>
              <a:rPr lang="en-US" sz="1000" kern="100" dirty="0" err="1">
                <a:effectLst/>
                <a:latin typeface="Anuphan" pitchFamily="2" charset="-34"/>
                <a:ea typeface="Aptos" panose="020B0004020202020204" pitchFamily="34" charset="0"/>
                <a:cs typeface="Anuphan" pitchFamily="2" charset="-34"/>
              </a:rPr>
              <a:t>KNeighborsClassifier</a:t>
            </a: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for name, model in </a:t>
            </a:r>
            <a:r>
              <a:rPr lang="en-US" sz="1000" kern="100" dirty="0" err="1">
                <a:effectLst/>
                <a:latin typeface="Anuphan" pitchFamily="2" charset="-34"/>
                <a:ea typeface="Aptos" panose="020B0004020202020204" pitchFamily="34" charset="0"/>
                <a:cs typeface="Anuphan" pitchFamily="2" charset="-34"/>
              </a:rPr>
              <a:t>models.items</a:t>
            </a: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a:t>
            </a:r>
            <a:r>
              <a:rPr lang="en-US" sz="1000" kern="100" dirty="0" err="1">
                <a:effectLst/>
                <a:latin typeface="Anuphan" pitchFamily="2" charset="-34"/>
                <a:ea typeface="Aptos" panose="020B0004020202020204" pitchFamily="34" charset="0"/>
                <a:cs typeface="Anuphan" pitchFamily="2" charset="-34"/>
              </a:rPr>
              <a:t>model.fit</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X_train</a:t>
            </a:r>
            <a:r>
              <a:rPr lang="en-US" sz="1000" kern="100" dirty="0">
                <a:effectLst/>
                <a:latin typeface="Anuphan" pitchFamily="2" charset="-34"/>
                <a:ea typeface="Aptos" panose="020B0004020202020204" pitchFamily="34" charset="0"/>
                <a:cs typeface="Anuphan" pitchFamily="2" charset="-34"/>
              </a:rPr>
              <a:t>, </a:t>
            </a:r>
            <a:r>
              <a:rPr lang="en-US" sz="1000" kern="100" dirty="0" err="1">
                <a:effectLst/>
                <a:latin typeface="Anuphan" pitchFamily="2" charset="-34"/>
                <a:ea typeface="Aptos" panose="020B0004020202020204" pitchFamily="34" charset="0"/>
                <a:cs typeface="Anuphan" pitchFamily="2" charset="-34"/>
              </a:rPr>
              <a:t>y_train</a:t>
            </a: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a:t>
            </a:r>
            <a:r>
              <a:rPr lang="en-US" sz="1000" kern="100" dirty="0" err="1">
                <a:effectLst/>
                <a:latin typeface="Anuphan" pitchFamily="2" charset="-34"/>
                <a:ea typeface="Aptos" panose="020B0004020202020204" pitchFamily="34" charset="0"/>
                <a:cs typeface="Anuphan" pitchFamily="2" charset="-34"/>
              </a:rPr>
              <a:t>y_pred</a:t>
            </a:r>
            <a:r>
              <a:rPr lang="en-US" sz="1000" kern="100" dirty="0">
                <a:effectLst/>
                <a:latin typeface="Anuphan" pitchFamily="2" charset="-34"/>
                <a:ea typeface="Aptos" panose="020B0004020202020204" pitchFamily="34" charset="0"/>
                <a:cs typeface="Anuphan" pitchFamily="2" charset="-34"/>
              </a:rPr>
              <a:t> = </a:t>
            </a:r>
            <a:r>
              <a:rPr lang="en-US" sz="1000" kern="100" dirty="0" err="1">
                <a:effectLst/>
                <a:latin typeface="Anuphan" pitchFamily="2" charset="-34"/>
                <a:ea typeface="Aptos" panose="020B0004020202020204" pitchFamily="34" charset="0"/>
                <a:cs typeface="Anuphan" pitchFamily="2" charset="-34"/>
              </a:rPr>
              <a:t>model.predict</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X_test</a:t>
            </a: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acc = </a:t>
            </a:r>
            <a:r>
              <a:rPr lang="en-US" sz="1000" kern="100" dirty="0" err="1">
                <a:effectLst/>
                <a:latin typeface="Anuphan" pitchFamily="2" charset="-34"/>
                <a:ea typeface="Aptos" panose="020B0004020202020204" pitchFamily="34" charset="0"/>
                <a:cs typeface="Anuphan" pitchFamily="2" charset="-34"/>
              </a:rPr>
              <a:t>accuracy_score</a:t>
            </a:r>
            <a:r>
              <a:rPr lang="en-US" sz="1000" kern="100" dirty="0">
                <a:effectLst/>
                <a:latin typeface="Anuphan" pitchFamily="2" charset="-34"/>
                <a:ea typeface="Aptos" panose="020B0004020202020204" pitchFamily="34" charset="0"/>
                <a:cs typeface="Anuphan" pitchFamily="2" charset="-34"/>
              </a:rPr>
              <a:t>(</a:t>
            </a:r>
            <a:r>
              <a:rPr lang="en-US" sz="1000" kern="100" dirty="0" err="1">
                <a:effectLst/>
                <a:latin typeface="Anuphan" pitchFamily="2" charset="-34"/>
                <a:ea typeface="Aptos" panose="020B0004020202020204" pitchFamily="34" charset="0"/>
                <a:cs typeface="Anuphan" pitchFamily="2" charset="-34"/>
              </a:rPr>
              <a:t>y_test</a:t>
            </a:r>
            <a:r>
              <a:rPr lang="en-US" sz="1000" kern="100" dirty="0">
                <a:effectLst/>
                <a:latin typeface="Anuphan" pitchFamily="2" charset="-34"/>
                <a:ea typeface="Aptos" panose="020B0004020202020204" pitchFamily="34" charset="0"/>
                <a:cs typeface="Anuphan" pitchFamily="2" charset="-34"/>
              </a:rPr>
              <a:t>, </a:t>
            </a:r>
            <a:r>
              <a:rPr lang="en-US" sz="1000" kern="100" dirty="0" err="1">
                <a:effectLst/>
                <a:latin typeface="Anuphan" pitchFamily="2" charset="-34"/>
                <a:ea typeface="Aptos" panose="020B0004020202020204" pitchFamily="34" charset="0"/>
                <a:cs typeface="Anuphan" pitchFamily="2" charset="-34"/>
              </a:rPr>
              <a:t>y_pred</a:t>
            </a:r>
            <a:r>
              <a:rPr lang="en-US" sz="1000" kern="100" dirty="0">
                <a:effectLst/>
                <a:latin typeface="Anuphan" pitchFamily="2" charset="-34"/>
                <a:ea typeface="Aptos" panose="020B0004020202020204" pitchFamily="34" charset="0"/>
                <a:cs typeface="Anuphan" pitchFamily="2" charset="-34"/>
              </a:rPr>
              <a:t>)</a:t>
            </a:r>
          </a:p>
          <a:p>
            <a:pPr marL="0" marR="0">
              <a:lnSpc>
                <a:spcPct val="115000"/>
              </a:lnSpc>
              <a:spcAft>
                <a:spcPts val="800"/>
              </a:spcAft>
              <a:buNone/>
            </a:pPr>
            <a:r>
              <a:rPr lang="en-US" sz="1000" kern="100" dirty="0">
                <a:effectLst/>
                <a:latin typeface="Anuphan" pitchFamily="2" charset="-34"/>
                <a:ea typeface="Aptos" panose="020B0004020202020204" pitchFamily="34" charset="0"/>
                <a:cs typeface="Anuphan" pitchFamily="2" charset="-34"/>
              </a:rPr>
              <a:t>    print(f"{name:25s} → Accuracy: {acc:.4f}")</a:t>
            </a:r>
          </a:p>
        </p:txBody>
      </p:sp>
    </p:spTree>
    <p:extLst>
      <p:ext uri="{BB962C8B-B14F-4D97-AF65-F5344CB8AC3E}">
        <p14:creationId xmlns:p14="http://schemas.microsoft.com/office/powerpoint/2010/main" val="41481259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B5962-71A0-F523-1290-654A1FA91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72773-08DF-D81B-5D00-74A2CAD99F76}"/>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BF71EE01-5002-0E9A-438F-1746AA29061F}"/>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9071BAE8-3D4C-5559-E3A1-F0698F0D4220}"/>
              </a:ext>
            </a:extLst>
          </p:cNvPr>
          <p:cNvPicPr>
            <a:picLocks noChangeAspect="1"/>
          </p:cNvPicPr>
          <p:nvPr/>
        </p:nvPicPr>
        <p:blipFill>
          <a:blip r:embed="rId2"/>
          <a:stretch>
            <a:fillRect/>
          </a:stretch>
        </p:blipFill>
        <p:spPr>
          <a:xfrm>
            <a:off x="1647204" y="1714260"/>
            <a:ext cx="8897592" cy="34294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8209087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96F51-9715-18B9-8D59-5EA0F03B0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7E501-C6BF-F58B-509D-379CF6FC8B1F}"/>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93772E2B-3953-5094-E854-4D390A4DE47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779F2DCE-5BFA-44A5-0DA1-11F08FBFB25F}"/>
              </a:ext>
            </a:extLst>
          </p:cNvPr>
          <p:cNvPicPr>
            <a:picLocks noChangeAspect="1"/>
          </p:cNvPicPr>
          <p:nvPr/>
        </p:nvPicPr>
        <p:blipFill>
          <a:blip r:embed="rId2"/>
          <a:stretch>
            <a:fillRect/>
          </a:stretch>
        </p:blipFill>
        <p:spPr>
          <a:xfrm>
            <a:off x="1694836" y="1680702"/>
            <a:ext cx="8802328" cy="440116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400166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C232E-08F4-2565-281F-C4C5A274E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ED4565-B477-6B7D-F72E-74CF5D3E5BA5}"/>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70EEED1-8AD2-AB84-98A4-8D1A1C2058ED}"/>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A9FAE589-2BD5-0648-400A-0F818D339F1B}"/>
              </a:ext>
            </a:extLst>
          </p:cNvPr>
          <p:cNvPicPr>
            <a:picLocks noChangeAspect="1"/>
          </p:cNvPicPr>
          <p:nvPr/>
        </p:nvPicPr>
        <p:blipFill>
          <a:blip r:embed="rId2"/>
          <a:stretch>
            <a:fillRect/>
          </a:stretch>
        </p:blipFill>
        <p:spPr>
          <a:xfrm>
            <a:off x="2143432" y="1651052"/>
            <a:ext cx="7905136" cy="46377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56754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BB634-F717-0CD7-E6E8-FC876BCE1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BBB7E-26D9-3DBA-6B36-99CE71114B90}"/>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13D4C96A-A5AB-6D6F-BA78-ABAED2A39E8C}"/>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sp>
        <p:nvSpPr>
          <p:cNvPr id="6" name="TextBox 5">
            <a:extLst>
              <a:ext uri="{FF2B5EF4-FFF2-40B4-BE49-F238E27FC236}">
                <a16:creationId xmlns:a16="http://schemas.microsoft.com/office/drawing/2014/main" id="{C9958A1F-A5A7-D35B-9AD2-8A32609BB536}"/>
              </a:ext>
            </a:extLst>
          </p:cNvPr>
          <p:cNvSpPr txBox="1"/>
          <p:nvPr/>
        </p:nvSpPr>
        <p:spPr>
          <a:xfrm>
            <a:off x="1317523" y="1832807"/>
            <a:ext cx="6096000" cy="3477875"/>
          </a:xfrm>
          <a:prstGeom prst="rect">
            <a:avLst/>
          </a:prstGeom>
          <a:noFill/>
        </p:spPr>
        <p:txBody>
          <a:bodyPr wrap="square">
            <a:spAutoFit/>
          </a:bodyPr>
          <a:lstStyle/>
          <a:p>
            <a:r>
              <a:rPr lang="en-US" sz="1100" dirty="0">
                <a:latin typeface="Anuphan" pitchFamily="2" charset="-34"/>
                <a:cs typeface="Anuphan" pitchFamily="2" charset="-34"/>
              </a:rPr>
              <a:t>from </a:t>
            </a:r>
            <a:r>
              <a:rPr lang="en-US" sz="1100" dirty="0" err="1">
                <a:latin typeface="Anuphan" pitchFamily="2" charset="-34"/>
                <a:cs typeface="Anuphan" pitchFamily="2" charset="-34"/>
              </a:rPr>
              <a:t>sklearn.metrics</a:t>
            </a:r>
            <a:r>
              <a:rPr lang="en-US" sz="1100" dirty="0">
                <a:latin typeface="Anuphan" pitchFamily="2" charset="-34"/>
                <a:cs typeface="Anuphan" pitchFamily="2" charset="-34"/>
              </a:rPr>
              <a:t> import (</a:t>
            </a:r>
          </a:p>
          <a:p>
            <a:r>
              <a:rPr lang="en-US" sz="1100" dirty="0">
                <a:latin typeface="Anuphan" pitchFamily="2" charset="-34"/>
                <a:cs typeface="Anuphan" pitchFamily="2" charset="-34"/>
              </a:rPr>
              <a:t>    </a:t>
            </a:r>
            <a:r>
              <a:rPr lang="en-US" sz="1100" dirty="0" err="1">
                <a:latin typeface="Anuphan" pitchFamily="2" charset="-34"/>
                <a:cs typeface="Anuphan" pitchFamily="2" charset="-34"/>
              </a:rPr>
              <a:t>classification_report</a:t>
            </a:r>
            <a:r>
              <a:rPr lang="en-US" sz="1100" dirty="0">
                <a:latin typeface="Anuphan" pitchFamily="2" charset="-34"/>
                <a:cs typeface="Anuphan" pitchFamily="2" charset="-34"/>
              </a:rPr>
              <a:t>,</a:t>
            </a:r>
          </a:p>
          <a:p>
            <a:r>
              <a:rPr lang="en-US" sz="1100" dirty="0">
                <a:latin typeface="Anuphan" pitchFamily="2" charset="-34"/>
                <a:cs typeface="Anuphan" pitchFamily="2" charset="-34"/>
              </a:rPr>
              <a:t>    </a:t>
            </a:r>
            <a:r>
              <a:rPr lang="en-US" sz="1100" dirty="0" err="1">
                <a:latin typeface="Anuphan" pitchFamily="2" charset="-34"/>
                <a:cs typeface="Anuphan" pitchFamily="2" charset="-34"/>
              </a:rPr>
              <a:t>confusion_matrix</a:t>
            </a:r>
            <a:r>
              <a:rPr lang="en-US" sz="1100" dirty="0">
                <a:latin typeface="Anuphan" pitchFamily="2" charset="-34"/>
                <a:cs typeface="Anuphan" pitchFamily="2" charset="-34"/>
              </a:rPr>
              <a:t>,</a:t>
            </a:r>
          </a:p>
          <a:p>
            <a:r>
              <a:rPr lang="en-US" sz="1100" dirty="0">
                <a:latin typeface="Anuphan" pitchFamily="2" charset="-34"/>
                <a:cs typeface="Anuphan" pitchFamily="2" charset="-34"/>
              </a:rPr>
              <a:t>    </a:t>
            </a:r>
            <a:r>
              <a:rPr lang="en-US" sz="1100" dirty="0" err="1">
                <a:latin typeface="Anuphan" pitchFamily="2" charset="-34"/>
                <a:cs typeface="Anuphan" pitchFamily="2" charset="-34"/>
              </a:rPr>
              <a:t>roc_auc_score</a:t>
            </a:r>
            <a:endParaRPr lang="en-US" sz="1100" dirty="0">
              <a:latin typeface="Anuphan" pitchFamily="2" charset="-34"/>
              <a:cs typeface="Anuphan" pitchFamily="2" charset="-34"/>
            </a:endParaRPr>
          </a:p>
          <a:p>
            <a:r>
              <a:rPr lang="en-US" sz="1100" dirty="0">
                <a:latin typeface="Anuphan" pitchFamily="2" charset="-34"/>
                <a:cs typeface="Anuphan" pitchFamily="2" charset="-34"/>
              </a:rPr>
              <a:t>)</a:t>
            </a:r>
          </a:p>
          <a:p>
            <a:endParaRPr lang="en-US" sz="1100" dirty="0">
              <a:latin typeface="Anuphan" pitchFamily="2" charset="-34"/>
              <a:cs typeface="Anuphan" pitchFamily="2" charset="-34"/>
            </a:endParaRPr>
          </a:p>
          <a:p>
            <a:r>
              <a:rPr lang="en-US" sz="1100" dirty="0">
                <a:latin typeface="Anuphan" pitchFamily="2" charset="-34"/>
                <a:cs typeface="Anuphan" pitchFamily="2" charset="-34"/>
              </a:rPr>
              <a:t>model = </a:t>
            </a:r>
            <a:r>
              <a:rPr lang="en-US" sz="1100" dirty="0" err="1">
                <a:latin typeface="Anuphan" pitchFamily="2" charset="-34"/>
                <a:cs typeface="Anuphan" pitchFamily="2" charset="-34"/>
              </a:rPr>
              <a:t>RandomForestClassifier</a:t>
            </a:r>
            <a:r>
              <a:rPr lang="en-US" sz="1100" dirty="0">
                <a:latin typeface="Anuphan" pitchFamily="2" charset="-34"/>
                <a:cs typeface="Anuphan" pitchFamily="2" charset="-34"/>
              </a:rPr>
              <a:t>(</a:t>
            </a:r>
            <a:r>
              <a:rPr lang="en-US" sz="1100" dirty="0" err="1">
                <a:latin typeface="Anuphan" pitchFamily="2" charset="-34"/>
                <a:cs typeface="Anuphan" pitchFamily="2" charset="-34"/>
              </a:rPr>
              <a:t>n_estimators</a:t>
            </a:r>
            <a:r>
              <a:rPr lang="en-US" sz="1100" dirty="0">
                <a:latin typeface="Anuphan" pitchFamily="2" charset="-34"/>
                <a:cs typeface="Anuphan" pitchFamily="2" charset="-34"/>
              </a:rPr>
              <a:t>=100, </a:t>
            </a:r>
            <a:r>
              <a:rPr lang="en-US" sz="1100" dirty="0" err="1">
                <a:latin typeface="Anuphan" pitchFamily="2" charset="-34"/>
                <a:cs typeface="Anuphan" pitchFamily="2" charset="-34"/>
              </a:rPr>
              <a:t>random_state</a:t>
            </a:r>
            <a:r>
              <a:rPr lang="en-US" sz="1100" dirty="0">
                <a:latin typeface="Anuphan" pitchFamily="2" charset="-34"/>
                <a:cs typeface="Anuphan" pitchFamily="2" charset="-34"/>
              </a:rPr>
              <a:t>=42)</a:t>
            </a:r>
          </a:p>
          <a:p>
            <a:r>
              <a:rPr lang="en-US" sz="1100" dirty="0" err="1">
                <a:latin typeface="Anuphan" pitchFamily="2" charset="-34"/>
                <a:cs typeface="Anuphan" pitchFamily="2" charset="-34"/>
              </a:rPr>
              <a:t>model.fit</a:t>
            </a:r>
            <a:r>
              <a:rPr lang="en-US" sz="1100" dirty="0">
                <a:latin typeface="Anuphan" pitchFamily="2" charset="-34"/>
                <a:cs typeface="Anuphan" pitchFamily="2" charset="-34"/>
              </a:rPr>
              <a:t>(</a:t>
            </a:r>
            <a:r>
              <a:rPr lang="en-US" sz="1100" dirty="0" err="1">
                <a:latin typeface="Anuphan" pitchFamily="2" charset="-34"/>
                <a:cs typeface="Anuphan" pitchFamily="2" charset="-34"/>
              </a:rPr>
              <a:t>X_train</a:t>
            </a:r>
            <a:r>
              <a:rPr lang="en-US" sz="1100" dirty="0">
                <a:latin typeface="Anuphan" pitchFamily="2" charset="-34"/>
                <a:cs typeface="Anuphan" pitchFamily="2" charset="-34"/>
              </a:rPr>
              <a:t>, </a:t>
            </a:r>
            <a:r>
              <a:rPr lang="en-US" sz="1100" dirty="0" err="1">
                <a:latin typeface="Anuphan" pitchFamily="2" charset="-34"/>
                <a:cs typeface="Anuphan" pitchFamily="2" charset="-34"/>
              </a:rPr>
              <a:t>y_train</a:t>
            </a:r>
            <a:r>
              <a:rPr lang="en-US" sz="1100" dirty="0">
                <a:latin typeface="Anuphan" pitchFamily="2" charset="-34"/>
                <a:cs typeface="Anuphan" pitchFamily="2" charset="-34"/>
              </a:rPr>
              <a:t>)</a:t>
            </a:r>
          </a:p>
          <a:p>
            <a:r>
              <a:rPr lang="en-US" sz="1100" dirty="0" err="1">
                <a:latin typeface="Anuphan" pitchFamily="2" charset="-34"/>
                <a:cs typeface="Anuphan" pitchFamily="2" charset="-34"/>
              </a:rPr>
              <a:t>y_pred</a:t>
            </a:r>
            <a:r>
              <a:rPr lang="en-US" sz="1100" dirty="0">
                <a:latin typeface="Anuphan" pitchFamily="2" charset="-34"/>
                <a:cs typeface="Anuphan" pitchFamily="2" charset="-34"/>
              </a:rPr>
              <a:t>  = </a:t>
            </a:r>
            <a:r>
              <a:rPr lang="en-US" sz="1100" dirty="0" err="1">
                <a:latin typeface="Anuphan" pitchFamily="2" charset="-34"/>
                <a:cs typeface="Anuphan" pitchFamily="2" charset="-34"/>
              </a:rPr>
              <a:t>model.predict</a:t>
            </a:r>
            <a:r>
              <a:rPr lang="en-US" sz="1100" dirty="0">
                <a:latin typeface="Anuphan" pitchFamily="2" charset="-34"/>
                <a:cs typeface="Anuphan" pitchFamily="2" charset="-34"/>
              </a:rPr>
              <a:t>(</a:t>
            </a:r>
            <a:r>
              <a:rPr lang="en-US" sz="1100" dirty="0" err="1">
                <a:latin typeface="Anuphan" pitchFamily="2" charset="-34"/>
                <a:cs typeface="Anuphan" pitchFamily="2" charset="-34"/>
              </a:rPr>
              <a:t>X_test</a:t>
            </a:r>
            <a:r>
              <a:rPr lang="en-US" sz="1100" dirty="0">
                <a:latin typeface="Anuphan" pitchFamily="2" charset="-34"/>
                <a:cs typeface="Anuphan" pitchFamily="2" charset="-34"/>
              </a:rPr>
              <a:t>)</a:t>
            </a:r>
          </a:p>
          <a:p>
            <a:r>
              <a:rPr lang="en-US" sz="1100" dirty="0" err="1">
                <a:latin typeface="Anuphan" pitchFamily="2" charset="-34"/>
                <a:cs typeface="Anuphan" pitchFamily="2" charset="-34"/>
              </a:rPr>
              <a:t>y_proba</a:t>
            </a:r>
            <a:r>
              <a:rPr lang="en-US" sz="1100" dirty="0">
                <a:latin typeface="Anuphan" pitchFamily="2" charset="-34"/>
                <a:cs typeface="Anuphan" pitchFamily="2" charset="-34"/>
              </a:rPr>
              <a:t> = </a:t>
            </a:r>
            <a:r>
              <a:rPr lang="en-US" sz="1100" dirty="0" err="1">
                <a:latin typeface="Anuphan" pitchFamily="2" charset="-34"/>
                <a:cs typeface="Anuphan" pitchFamily="2" charset="-34"/>
              </a:rPr>
              <a:t>model.predict_proba</a:t>
            </a:r>
            <a:r>
              <a:rPr lang="en-US" sz="1100" dirty="0">
                <a:latin typeface="Anuphan" pitchFamily="2" charset="-34"/>
                <a:cs typeface="Anuphan" pitchFamily="2" charset="-34"/>
              </a:rPr>
              <a:t>(</a:t>
            </a:r>
            <a:r>
              <a:rPr lang="en-US" sz="1100" dirty="0" err="1">
                <a:latin typeface="Anuphan" pitchFamily="2" charset="-34"/>
                <a:cs typeface="Anuphan" pitchFamily="2" charset="-34"/>
              </a:rPr>
              <a:t>X_test</a:t>
            </a:r>
            <a:r>
              <a:rPr lang="en-US" sz="1100" dirty="0">
                <a:latin typeface="Anuphan" pitchFamily="2" charset="-34"/>
                <a:cs typeface="Anuphan" pitchFamily="2" charset="-34"/>
              </a:rPr>
              <a:t>)[:, 1]</a:t>
            </a:r>
          </a:p>
          <a:p>
            <a:endParaRPr lang="en-US" sz="1100" dirty="0">
              <a:latin typeface="Anuphan" pitchFamily="2" charset="-34"/>
              <a:cs typeface="Anuphan" pitchFamily="2" charset="-34"/>
            </a:endParaRPr>
          </a:p>
          <a:p>
            <a:r>
              <a:rPr lang="en-US" sz="1100" dirty="0">
                <a:latin typeface="Anuphan" pitchFamily="2" charset="-34"/>
                <a:cs typeface="Anuphan" pitchFamily="2" charset="-34"/>
              </a:rPr>
              <a:t># Full classification report</a:t>
            </a:r>
          </a:p>
          <a:p>
            <a:r>
              <a:rPr lang="en-US" sz="1100" dirty="0">
                <a:latin typeface="Anuphan" pitchFamily="2" charset="-34"/>
                <a:cs typeface="Anuphan" pitchFamily="2" charset="-34"/>
              </a:rPr>
              <a:t>print(</a:t>
            </a:r>
            <a:r>
              <a:rPr lang="en-US" sz="1100" dirty="0" err="1">
                <a:latin typeface="Anuphan" pitchFamily="2" charset="-34"/>
                <a:cs typeface="Anuphan" pitchFamily="2" charset="-34"/>
              </a:rPr>
              <a:t>classification_report</a:t>
            </a:r>
            <a:r>
              <a:rPr lang="en-US" sz="1100" dirty="0">
                <a:latin typeface="Anuphan" pitchFamily="2" charset="-34"/>
                <a:cs typeface="Anuphan" pitchFamily="2" charset="-34"/>
              </a:rPr>
              <a:t>(</a:t>
            </a:r>
            <a:r>
              <a:rPr lang="en-US" sz="1100" dirty="0" err="1">
                <a:latin typeface="Anuphan" pitchFamily="2" charset="-34"/>
                <a:cs typeface="Anuphan" pitchFamily="2" charset="-34"/>
              </a:rPr>
              <a:t>y_test</a:t>
            </a:r>
            <a:r>
              <a:rPr lang="en-US" sz="1100" dirty="0">
                <a:latin typeface="Anuphan" pitchFamily="2" charset="-34"/>
                <a:cs typeface="Anuphan" pitchFamily="2" charset="-34"/>
              </a:rPr>
              <a:t>, </a:t>
            </a:r>
            <a:r>
              <a:rPr lang="en-US" sz="1100" dirty="0" err="1">
                <a:latin typeface="Anuphan" pitchFamily="2" charset="-34"/>
                <a:cs typeface="Anuphan" pitchFamily="2" charset="-34"/>
              </a:rPr>
              <a:t>y_pred</a:t>
            </a:r>
            <a:r>
              <a:rPr lang="en-US" sz="1100" dirty="0">
                <a:latin typeface="Anuphan" pitchFamily="2" charset="-34"/>
                <a:cs typeface="Anuphan" pitchFamily="2" charset="-34"/>
              </a:rPr>
              <a:t>, </a:t>
            </a:r>
            <a:r>
              <a:rPr lang="en-US" sz="1100" dirty="0" err="1">
                <a:latin typeface="Anuphan" pitchFamily="2" charset="-34"/>
                <a:cs typeface="Anuphan" pitchFamily="2" charset="-34"/>
              </a:rPr>
              <a:t>target_names</a:t>
            </a:r>
            <a:r>
              <a:rPr lang="en-US" sz="1100" dirty="0">
                <a:latin typeface="Anuphan" pitchFamily="2" charset="-34"/>
                <a:cs typeface="Anuphan" pitchFamily="2" charset="-34"/>
              </a:rPr>
              <a:t>=['Not Survived', 'Survived']))</a:t>
            </a:r>
          </a:p>
          <a:p>
            <a:endParaRPr lang="en-US" sz="1100" dirty="0">
              <a:latin typeface="Anuphan" pitchFamily="2" charset="-34"/>
              <a:cs typeface="Anuphan" pitchFamily="2" charset="-34"/>
            </a:endParaRPr>
          </a:p>
          <a:p>
            <a:r>
              <a:rPr lang="en-US" sz="1100" dirty="0">
                <a:latin typeface="Anuphan" pitchFamily="2" charset="-34"/>
                <a:cs typeface="Anuphan" pitchFamily="2" charset="-34"/>
              </a:rPr>
              <a:t># Confusion matrix</a:t>
            </a:r>
          </a:p>
          <a:p>
            <a:r>
              <a:rPr lang="en-US" sz="1100" dirty="0">
                <a:latin typeface="Anuphan" pitchFamily="2" charset="-34"/>
                <a:cs typeface="Anuphan" pitchFamily="2" charset="-34"/>
              </a:rPr>
              <a:t>print("Confusion Matrix:")</a:t>
            </a:r>
          </a:p>
          <a:p>
            <a:r>
              <a:rPr lang="en-US" sz="1100" dirty="0">
                <a:latin typeface="Anuphan" pitchFamily="2" charset="-34"/>
                <a:cs typeface="Anuphan" pitchFamily="2" charset="-34"/>
              </a:rPr>
              <a:t>print(</a:t>
            </a:r>
            <a:r>
              <a:rPr lang="en-US" sz="1100" dirty="0" err="1">
                <a:latin typeface="Anuphan" pitchFamily="2" charset="-34"/>
                <a:cs typeface="Anuphan" pitchFamily="2" charset="-34"/>
              </a:rPr>
              <a:t>confusion_matrix</a:t>
            </a:r>
            <a:r>
              <a:rPr lang="en-US" sz="1100" dirty="0">
                <a:latin typeface="Anuphan" pitchFamily="2" charset="-34"/>
                <a:cs typeface="Anuphan" pitchFamily="2" charset="-34"/>
              </a:rPr>
              <a:t>(</a:t>
            </a:r>
            <a:r>
              <a:rPr lang="en-US" sz="1100" dirty="0" err="1">
                <a:latin typeface="Anuphan" pitchFamily="2" charset="-34"/>
                <a:cs typeface="Anuphan" pitchFamily="2" charset="-34"/>
              </a:rPr>
              <a:t>y_test</a:t>
            </a:r>
            <a:r>
              <a:rPr lang="en-US" sz="1100" dirty="0">
                <a:latin typeface="Anuphan" pitchFamily="2" charset="-34"/>
                <a:cs typeface="Anuphan" pitchFamily="2" charset="-34"/>
              </a:rPr>
              <a:t>, </a:t>
            </a:r>
            <a:r>
              <a:rPr lang="en-US" sz="1100" dirty="0" err="1">
                <a:latin typeface="Anuphan" pitchFamily="2" charset="-34"/>
                <a:cs typeface="Anuphan" pitchFamily="2" charset="-34"/>
              </a:rPr>
              <a:t>y_pred</a:t>
            </a:r>
            <a:r>
              <a:rPr lang="en-US" sz="1100" dirty="0">
                <a:latin typeface="Anuphan" pitchFamily="2" charset="-34"/>
                <a:cs typeface="Anuphan" pitchFamily="2" charset="-34"/>
              </a:rPr>
              <a:t>))</a:t>
            </a:r>
          </a:p>
          <a:p>
            <a:endParaRPr lang="en-US" sz="1100" dirty="0">
              <a:latin typeface="Anuphan" pitchFamily="2" charset="-34"/>
              <a:cs typeface="Anuphan" pitchFamily="2" charset="-34"/>
            </a:endParaRPr>
          </a:p>
          <a:p>
            <a:r>
              <a:rPr lang="en-US" sz="1100" dirty="0">
                <a:latin typeface="Anuphan" pitchFamily="2" charset="-34"/>
                <a:cs typeface="Anuphan" pitchFamily="2" charset="-34"/>
              </a:rPr>
              <a:t># ROC-AUC score</a:t>
            </a:r>
          </a:p>
          <a:p>
            <a:r>
              <a:rPr lang="en-US" sz="1100" dirty="0">
                <a:latin typeface="Anuphan" pitchFamily="2" charset="-34"/>
                <a:cs typeface="Anuphan" pitchFamily="2" charset="-34"/>
              </a:rPr>
              <a:t>print("ROC-AUC Score:", </a:t>
            </a:r>
            <a:r>
              <a:rPr lang="en-US" sz="1100" dirty="0" err="1">
                <a:latin typeface="Anuphan" pitchFamily="2" charset="-34"/>
                <a:cs typeface="Anuphan" pitchFamily="2" charset="-34"/>
              </a:rPr>
              <a:t>roc_auc_score</a:t>
            </a:r>
            <a:r>
              <a:rPr lang="en-US" sz="1100" dirty="0">
                <a:latin typeface="Anuphan" pitchFamily="2" charset="-34"/>
                <a:cs typeface="Anuphan" pitchFamily="2" charset="-34"/>
              </a:rPr>
              <a:t>(</a:t>
            </a:r>
            <a:r>
              <a:rPr lang="en-US" sz="1100" dirty="0" err="1">
                <a:latin typeface="Anuphan" pitchFamily="2" charset="-34"/>
                <a:cs typeface="Anuphan" pitchFamily="2" charset="-34"/>
              </a:rPr>
              <a:t>y_test</a:t>
            </a:r>
            <a:r>
              <a:rPr lang="en-US" sz="1100" dirty="0">
                <a:latin typeface="Anuphan" pitchFamily="2" charset="-34"/>
                <a:cs typeface="Anuphan" pitchFamily="2" charset="-34"/>
              </a:rPr>
              <a:t>, </a:t>
            </a:r>
            <a:r>
              <a:rPr lang="en-US" sz="1100" dirty="0" err="1">
                <a:latin typeface="Anuphan" pitchFamily="2" charset="-34"/>
                <a:cs typeface="Anuphan" pitchFamily="2" charset="-34"/>
              </a:rPr>
              <a:t>y_proba</a:t>
            </a:r>
            <a:r>
              <a:rPr lang="en-US" sz="1100" dirty="0">
                <a:latin typeface="Anuphan" pitchFamily="2" charset="-34"/>
                <a:cs typeface="Anuphan" pitchFamily="2" charset="-34"/>
              </a:rPr>
              <a:t>))</a:t>
            </a:r>
          </a:p>
        </p:txBody>
      </p:sp>
    </p:spTree>
    <p:extLst>
      <p:ext uri="{BB962C8B-B14F-4D97-AF65-F5344CB8AC3E}">
        <p14:creationId xmlns:p14="http://schemas.microsoft.com/office/powerpoint/2010/main" val="517498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AD3D4-04B1-74EE-DB49-9AB2B2C65B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4F738-C53B-894D-559E-28AB6A17A042}"/>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D2FDB47A-B600-D61D-863F-478C2FC38B2D}"/>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29EB3726-AF71-B735-4B8A-AC5B5E0B5C9E}"/>
              </a:ext>
            </a:extLst>
          </p:cNvPr>
          <p:cNvPicPr>
            <a:picLocks noChangeAspect="1"/>
          </p:cNvPicPr>
          <p:nvPr/>
        </p:nvPicPr>
        <p:blipFill>
          <a:blip r:embed="rId2"/>
          <a:stretch>
            <a:fillRect/>
          </a:stretch>
        </p:blipFill>
        <p:spPr>
          <a:xfrm>
            <a:off x="1804388" y="1759534"/>
            <a:ext cx="8583223" cy="410584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646689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22B58-3E74-DC68-6944-0C0D6BDC2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A3988-8038-BDBF-4820-0B0E6A01458A}"/>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EA86D28C-C9FF-94A4-BD11-3B93D51B5DC5}"/>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1006761D-E110-E20C-077E-F9AD414A7B31}"/>
              </a:ext>
            </a:extLst>
          </p:cNvPr>
          <p:cNvPicPr>
            <a:picLocks noChangeAspect="1"/>
          </p:cNvPicPr>
          <p:nvPr/>
        </p:nvPicPr>
        <p:blipFill>
          <a:blip r:embed="rId2"/>
          <a:stretch>
            <a:fillRect/>
          </a:stretch>
        </p:blipFill>
        <p:spPr>
          <a:xfrm>
            <a:off x="2261419" y="1615784"/>
            <a:ext cx="7669162" cy="45428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068269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BF4C-48BC-C33F-C2E6-7EABDEE85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87A486-276D-B9CA-89CB-04390C5044E1}"/>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F8D66C66-E681-CE8A-66DD-20D2E1839FD4}"/>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ED1E5ED6-31F4-0920-C880-AEDB845A3E67}"/>
              </a:ext>
            </a:extLst>
          </p:cNvPr>
          <p:cNvPicPr>
            <a:picLocks noChangeAspect="1"/>
          </p:cNvPicPr>
          <p:nvPr/>
        </p:nvPicPr>
        <p:blipFill>
          <a:blip r:embed="rId2"/>
          <a:stretch>
            <a:fillRect/>
          </a:stretch>
        </p:blipFill>
        <p:spPr>
          <a:xfrm>
            <a:off x="1609099" y="1650721"/>
            <a:ext cx="8973802" cy="25340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539605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9F525-C051-5EA5-52B0-D8396942E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077030-CF59-690B-F9C9-08E0F73E05B0}"/>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A806A8EF-55A7-FA37-FC28-F70A0702C729}"/>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D6041FF4-B41E-D3B3-5D13-6975A6422635}"/>
              </a:ext>
            </a:extLst>
          </p:cNvPr>
          <p:cNvPicPr>
            <a:picLocks noChangeAspect="1"/>
          </p:cNvPicPr>
          <p:nvPr/>
        </p:nvPicPr>
        <p:blipFill>
          <a:blip r:embed="rId2"/>
          <a:stretch>
            <a:fillRect/>
          </a:stretch>
        </p:blipFill>
        <p:spPr>
          <a:xfrm>
            <a:off x="1751994" y="1657102"/>
            <a:ext cx="8688012" cy="35437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7661125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DC686-AC17-0D64-6F8D-EF5EE91568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0873B5-9177-A3B7-93BA-D4293C36C2B8}"/>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148645E9-7E7A-311D-164E-792D342F665B}"/>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AEFDA3A2-0F49-DEA0-B692-55C4014EA8CB}"/>
              </a:ext>
            </a:extLst>
          </p:cNvPr>
          <p:cNvPicPr>
            <a:picLocks noChangeAspect="1"/>
          </p:cNvPicPr>
          <p:nvPr/>
        </p:nvPicPr>
        <p:blipFill>
          <a:blip r:embed="rId2"/>
          <a:stretch>
            <a:fillRect/>
          </a:stretch>
        </p:blipFill>
        <p:spPr>
          <a:xfrm>
            <a:off x="1728178" y="1561839"/>
            <a:ext cx="8735644" cy="3734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41759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93E4A-CE76-C3BD-F292-5378DA913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1D1CDF-54A2-2B75-99DE-D88B449B57AF}"/>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86C6C3D0-6EA5-883F-67F3-6290D1790087}"/>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EC82E080-4F25-78A3-134B-76CC2E462992}"/>
              </a:ext>
            </a:extLst>
          </p:cNvPr>
          <p:cNvPicPr>
            <a:picLocks noChangeAspect="1"/>
          </p:cNvPicPr>
          <p:nvPr/>
        </p:nvPicPr>
        <p:blipFill>
          <a:blip r:embed="rId2"/>
          <a:stretch>
            <a:fillRect/>
          </a:stretch>
        </p:blipFill>
        <p:spPr>
          <a:xfrm>
            <a:off x="1671484" y="1652940"/>
            <a:ext cx="8849032" cy="40458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31915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7C012-E5AE-605E-1A52-8085ED7AF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D8624-D7C0-D56B-3D4E-0FD9289D20B8}"/>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65430526-F5C2-1FA0-9C87-C60768D1565A}"/>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3F019046-044B-B26D-70C2-297693172D45}"/>
              </a:ext>
            </a:extLst>
          </p:cNvPr>
          <p:cNvPicPr>
            <a:picLocks noChangeAspect="1"/>
          </p:cNvPicPr>
          <p:nvPr/>
        </p:nvPicPr>
        <p:blipFill>
          <a:blip r:embed="rId2"/>
          <a:stretch>
            <a:fillRect/>
          </a:stretch>
        </p:blipFill>
        <p:spPr>
          <a:xfrm>
            <a:off x="1285203" y="1576454"/>
            <a:ext cx="9621593" cy="468695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0327846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B2FE-CE4E-98DF-422E-30144C2E9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BC609-1966-40E2-2FAD-78BA4ABB84D2}"/>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B7524E80-AAE7-BCD3-9D04-153DB930DC19}"/>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8" name="Picture 7">
            <a:extLst>
              <a:ext uri="{FF2B5EF4-FFF2-40B4-BE49-F238E27FC236}">
                <a16:creationId xmlns:a16="http://schemas.microsoft.com/office/drawing/2014/main" id="{4103B019-1EC0-F2D6-8B42-70E96DE470C8}"/>
              </a:ext>
            </a:extLst>
          </p:cNvPr>
          <p:cNvPicPr>
            <a:picLocks noChangeAspect="1"/>
          </p:cNvPicPr>
          <p:nvPr/>
        </p:nvPicPr>
        <p:blipFill>
          <a:blip r:embed="rId2"/>
          <a:stretch>
            <a:fillRect/>
          </a:stretch>
        </p:blipFill>
        <p:spPr>
          <a:xfrm>
            <a:off x="1747230" y="1783437"/>
            <a:ext cx="8697539" cy="39153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272971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8F72D-79E2-DB01-80D9-6C8F06A68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D72D16-37AC-224F-83C3-E3EFA3A8AF9C}"/>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D5029077-90D4-8394-6DD8-B363FB81B3E4}"/>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A1BF49E9-59F9-49BF-6BEA-12F206EEA14F}"/>
              </a:ext>
            </a:extLst>
          </p:cNvPr>
          <p:cNvPicPr>
            <a:picLocks noChangeAspect="1"/>
          </p:cNvPicPr>
          <p:nvPr/>
        </p:nvPicPr>
        <p:blipFill>
          <a:blip r:embed="rId2"/>
          <a:stretch>
            <a:fillRect/>
          </a:stretch>
        </p:blipFill>
        <p:spPr>
          <a:xfrm>
            <a:off x="1223282" y="1983490"/>
            <a:ext cx="9745435" cy="37152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16579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4CA46-81FB-4788-5172-BB59E7FAE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CE037-8170-1A8A-ADA9-17B0AD5EF13D}"/>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C6010F9B-44F9-767E-BE33-66CABED70BF6}"/>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7" name="Picture 6">
            <a:extLst>
              <a:ext uri="{FF2B5EF4-FFF2-40B4-BE49-F238E27FC236}">
                <a16:creationId xmlns:a16="http://schemas.microsoft.com/office/drawing/2014/main" id="{F5307BA9-BF83-8078-3572-910EC2B2D1F8}"/>
              </a:ext>
            </a:extLst>
          </p:cNvPr>
          <p:cNvPicPr>
            <a:picLocks noChangeAspect="1"/>
          </p:cNvPicPr>
          <p:nvPr/>
        </p:nvPicPr>
        <p:blipFill>
          <a:blip r:embed="rId2"/>
          <a:stretch>
            <a:fillRect/>
          </a:stretch>
        </p:blipFill>
        <p:spPr>
          <a:xfrm>
            <a:off x="2438400" y="1626603"/>
            <a:ext cx="7315200" cy="42952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5924657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A9C91-A50C-FEB0-3027-0B25A3BD4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A4960-BCA4-C121-F9DF-8FD2807EAC04}"/>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7F3D2613-C8B4-1F71-0C88-15080E04C3F8}"/>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677E4929-56A8-A7DA-5A3B-2CE630E62F7A}"/>
              </a:ext>
            </a:extLst>
          </p:cNvPr>
          <p:cNvPicPr>
            <a:picLocks noChangeAspect="1"/>
          </p:cNvPicPr>
          <p:nvPr/>
        </p:nvPicPr>
        <p:blipFill>
          <a:blip r:embed="rId2"/>
          <a:stretch>
            <a:fillRect/>
          </a:stretch>
        </p:blipFill>
        <p:spPr>
          <a:xfrm>
            <a:off x="1613862" y="1647576"/>
            <a:ext cx="8964276" cy="356284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40909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9CD8-A9C3-1494-50C4-A5B5BA8A2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17C020-902F-6B7A-012F-E3765356BBB6}"/>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FD84E7F4-8ED9-5421-96DE-1DE842B445BF}"/>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9CED0A60-1881-5829-74D2-1523E69FF8EB}"/>
              </a:ext>
            </a:extLst>
          </p:cNvPr>
          <p:cNvPicPr>
            <a:picLocks noChangeAspect="1"/>
          </p:cNvPicPr>
          <p:nvPr/>
        </p:nvPicPr>
        <p:blipFill>
          <a:blip r:embed="rId2"/>
          <a:stretch>
            <a:fillRect/>
          </a:stretch>
        </p:blipFill>
        <p:spPr>
          <a:xfrm>
            <a:off x="1637678" y="1674540"/>
            <a:ext cx="8916644" cy="462979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894025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5E519-5D6E-EF6C-ED23-8FA02473C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FECA4-CC9F-49AB-781A-EA4E75891D7A}"/>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BA453E84-3DA2-8481-7E6C-05B3EF50AF28}"/>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0DAB45EE-92DD-CCC6-28A9-E4C44E61C69B}"/>
              </a:ext>
            </a:extLst>
          </p:cNvPr>
          <p:cNvPicPr>
            <a:picLocks noChangeAspect="1"/>
          </p:cNvPicPr>
          <p:nvPr/>
        </p:nvPicPr>
        <p:blipFill>
          <a:blip r:embed="rId2"/>
          <a:stretch>
            <a:fillRect/>
          </a:stretch>
        </p:blipFill>
        <p:spPr>
          <a:xfrm>
            <a:off x="1599572" y="1722122"/>
            <a:ext cx="8992855" cy="85737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074786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238B-142C-3A2A-5D20-F7B46A5A8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C9748-3B08-5735-28A9-1AB76368F553}"/>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525678DF-7E30-6541-7D52-6B3673E2A836}"/>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DD9A99C8-E584-2BF2-8C76-30834456F6EF}"/>
              </a:ext>
            </a:extLst>
          </p:cNvPr>
          <p:cNvPicPr>
            <a:picLocks noChangeAspect="1"/>
          </p:cNvPicPr>
          <p:nvPr/>
        </p:nvPicPr>
        <p:blipFill>
          <a:blip r:embed="rId2"/>
          <a:stretch>
            <a:fillRect/>
          </a:stretch>
        </p:blipFill>
        <p:spPr>
          <a:xfrm>
            <a:off x="1594809" y="2142945"/>
            <a:ext cx="9002381" cy="25721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562379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9538-12C0-37E0-28F1-176D86092C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62A48-69BF-B95F-8B27-38815D990E5F}"/>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6755DB46-6397-146E-1D7E-00D66EC963B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5B91579E-22AB-B85D-330D-24222EA936B9}"/>
              </a:ext>
            </a:extLst>
          </p:cNvPr>
          <p:cNvPicPr>
            <a:picLocks noChangeAspect="1"/>
          </p:cNvPicPr>
          <p:nvPr/>
        </p:nvPicPr>
        <p:blipFill>
          <a:blip r:embed="rId2"/>
          <a:stretch>
            <a:fillRect/>
          </a:stretch>
        </p:blipFill>
        <p:spPr>
          <a:xfrm>
            <a:off x="2163097" y="1525722"/>
            <a:ext cx="7865806" cy="46726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9506439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6F860-90D9-CCCC-7159-C0C64E7B7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14043-8F05-F48B-9C3B-DB876302D559}"/>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C6C0B8A-7D82-2179-027A-98DD66AFF4B1}"/>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7A3D6797-E6E0-C5EE-201C-B6604DBD0B1F}"/>
              </a:ext>
            </a:extLst>
          </p:cNvPr>
          <p:cNvPicPr>
            <a:picLocks noChangeAspect="1"/>
          </p:cNvPicPr>
          <p:nvPr/>
        </p:nvPicPr>
        <p:blipFill>
          <a:blip r:embed="rId2"/>
          <a:stretch>
            <a:fillRect/>
          </a:stretch>
        </p:blipFill>
        <p:spPr>
          <a:xfrm>
            <a:off x="629263" y="1692211"/>
            <a:ext cx="6725266" cy="457479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extBox 2">
            <a:extLst>
              <a:ext uri="{FF2B5EF4-FFF2-40B4-BE49-F238E27FC236}">
                <a16:creationId xmlns:a16="http://schemas.microsoft.com/office/drawing/2014/main" id="{553AB28A-1347-F6C9-096A-A151ADF31946}"/>
              </a:ext>
            </a:extLst>
          </p:cNvPr>
          <p:cNvSpPr txBox="1"/>
          <p:nvPr/>
        </p:nvSpPr>
        <p:spPr>
          <a:xfrm>
            <a:off x="7610168" y="1661986"/>
            <a:ext cx="4080387" cy="1323439"/>
          </a:xfrm>
          <a:prstGeom prst="rect">
            <a:avLst/>
          </a:prstGeom>
          <a:noFill/>
        </p:spPr>
        <p:txBody>
          <a:bodyPr wrap="square" rtlCol="0">
            <a:spAutoFit/>
          </a:bodyPr>
          <a:lstStyle/>
          <a:p>
            <a:r>
              <a:rPr lang="en-US" sz="1600" b="1" dirty="0">
                <a:latin typeface="Anuphan" pitchFamily="2" charset="-34"/>
                <a:cs typeface="Anuphan" pitchFamily="2" charset="-34"/>
              </a:rPr>
              <a:t>Why limited?</a:t>
            </a:r>
            <a:r>
              <a:rPr lang="en-US" sz="1600" dirty="0">
                <a:latin typeface="Anuphan" pitchFamily="2" charset="-34"/>
                <a:cs typeface="Anuphan" pitchFamily="2" charset="-34"/>
              </a:rPr>
              <a:t> Complex models like Random Forest have hundreds of trees with thousands of nodes — JSON is not designed to store that kind of structure efficiently. Best for simple models only.</a:t>
            </a:r>
            <a:endParaRPr lang="en-US" sz="1600" dirty="0">
              <a:solidFill>
                <a:schemeClr val="tx1">
                  <a:lumMod val="75000"/>
                  <a:lumOff val="25000"/>
                </a:schemeClr>
              </a:solidFill>
              <a:latin typeface="Anuphan" pitchFamily="2" charset="-34"/>
              <a:cs typeface="Anuphan" pitchFamily="2" charset="-34"/>
            </a:endParaRPr>
          </a:p>
        </p:txBody>
      </p:sp>
    </p:spTree>
    <p:extLst>
      <p:ext uri="{BB962C8B-B14F-4D97-AF65-F5344CB8AC3E}">
        <p14:creationId xmlns:p14="http://schemas.microsoft.com/office/powerpoint/2010/main" val="35287338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6C904-547E-CFD6-A472-4E5991145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DE8D9F-99BB-ECC3-86A1-01ACA4122EEE}"/>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1BC7178-F2F5-1261-1E0A-85C12D6EA4BB}"/>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7" name="Picture 6">
            <a:extLst>
              <a:ext uri="{FF2B5EF4-FFF2-40B4-BE49-F238E27FC236}">
                <a16:creationId xmlns:a16="http://schemas.microsoft.com/office/drawing/2014/main" id="{E51F6B08-ED10-5235-EA94-56B4EC7DAD90}"/>
              </a:ext>
            </a:extLst>
          </p:cNvPr>
          <p:cNvPicPr>
            <a:picLocks noChangeAspect="1"/>
          </p:cNvPicPr>
          <p:nvPr/>
        </p:nvPicPr>
        <p:blipFill>
          <a:blip r:embed="rId2"/>
          <a:stretch>
            <a:fillRect/>
          </a:stretch>
        </p:blipFill>
        <p:spPr>
          <a:xfrm>
            <a:off x="2128284" y="1628135"/>
            <a:ext cx="7935432" cy="489653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173085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9B13A-B71E-F4AF-F048-60098F877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FECE2-CD35-789A-A1D8-6DDB5A4C7706}"/>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40E6CFEE-633A-CA97-0079-F8E8747DF833}"/>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EEAFF4A8-A040-A52E-D8DA-454CE29E84C1}"/>
              </a:ext>
            </a:extLst>
          </p:cNvPr>
          <p:cNvPicPr>
            <a:picLocks noChangeAspect="1"/>
          </p:cNvPicPr>
          <p:nvPr/>
        </p:nvPicPr>
        <p:blipFill>
          <a:blip r:embed="rId2"/>
          <a:stretch>
            <a:fillRect/>
          </a:stretch>
        </p:blipFill>
        <p:spPr>
          <a:xfrm>
            <a:off x="2099705" y="1790471"/>
            <a:ext cx="7992590" cy="32770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224374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6FC4-F00F-D6EC-CB8B-B0E0C9EEA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4E2BF-F42B-F254-8C55-220CAC40A43C}"/>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FB840088-BBEF-3750-2F7B-5B9AD190D3BB}"/>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8B74E8B8-76D7-DD6B-231D-DD1E45A7F91E}"/>
              </a:ext>
            </a:extLst>
          </p:cNvPr>
          <p:cNvPicPr>
            <a:picLocks noChangeAspect="1"/>
          </p:cNvPicPr>
          <p:nvPr/>
        </p:nvPicPr>
        <p:blipFill>
          <a:blip r:embed="rId2"/>
          <a:stretch>
            <a:fillRect/>
          </a:stretch>
        </p:blipFill>
        <p:spPr>
          <a:xfrm>
            <a:off x="3337026" y="1328519"/>
            <a:ext cx="7891412" cy="50912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361996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E5914-67F0-2C9B-F124-DEBAAC86A9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C582BE-2375-69C0-55C6-9E2A550F9055}"/>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00863EFF-965A-B6EB-258F-7A7DFB6EEF91}"/>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5" name="Picture 4">
            <a:extLst>
              <a:ext uri="{FF2B5EF4-FFF2-40B4-BE49-F238E27FC236}">
                <a16:creationId xmlns:a16="http://schemas.microsoft.com/office/drawing/2014/main" id="{205799A1-FFDE-3D35-53B9-50B5AE78C63C}"/>
              </a:ext>
            </a:extLst>
          </p:cNvPr>
          <p:cNvPicPr>
            <a:picLocks noChangeAspect="1"/>
          </p:cNvPicPr>
          <p:nvPr/>
        </p:nvPicPr>
        <p:blipFill>
          <a:blip r:embed="rId2"/>
          <a:stretch>
            <a:fillRect/>
          </a:stretch>
        </p:blipFill>
        <p:spPr>
          <a:xfrm>
            <a:off x="1566230" y="1631015"/>
            <a:ext cx="9059539" cy="40677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0806619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8B73C-5174-3C1A-D644-5D578901B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B5FB34-03C3-BB08-D29C-4281B824DBA0}"/>
              </a:ext>
            </a:extLst>
          </p:cNvPr>
          <p:cNvSpPr>
            <a:spLocks noGrp="1"/>
          </p:cNvSpPr>
          <p:nvPr>
            <p:ph type="ctrTitle"/>
          </p:nvPr>
        </p:nvSpPr>
        <p:spPr>
          <a:xfrm>
            <a:off x="1317523" y="333332"/>
            <a:ext cx="9556954" cy="825910"/>
          </a:xfrm>
        </p:spPr>
        <p:txBody>
          <a:bodyPr>
            <a:noAutofit/>
          </a:bodyPr>
          <a:lstStyle/>
          <a:p>
            <a:pPr algn="l"/>
            <a:r>
              <a:rPr lang="en-US" sz="4000" dirty="0">
                <a:solidFill>
                  <a:schemeClr val="tx1">
                    <a:lumMod val="75000"/>
                    <a:lumOff val="25000"/>
                  </a:schemeClr>
                </a:solidFill>
                <a:latin typeface="Anuphan" pitchFamily="2" charset="-34"/>
                <a:cs typeface="Anuphan" pitchFamily="2" charset="-34"/>
              </a:rPr>
              <a:t>Using Machine Learning Model</a:t>
            </a:r>
          </a:p>
        </p:txBody>
      </p:sp>
      <p:sp>
        <p:nvSpPr>
          <p:cNvPr id="4" name="TextBox 3">
            <a:extLst>
              <a:ext uri="{FF2B5EF4-FFF2-40B4-BE49-F238E27FC236}">
                <a16:creationId xmlns:a16="http://schemas.microsoft.com/office/drawing/2014/main" id="{EB79C2FF-8285-2E4E-0B22-3CBE64A313AE}"/>
              </a:ext>
            </a:extLst>
          </p:cNvPr>
          <p:cNvSpPr txBox="1"/>
          <p:nvPr/>
        </p:nvSpPr>
        <p:spPr>
          <a:xfrm>
            <a:off x="1317523" y="1159242"/>
            <a:ext cx="9556954" cy="338554"/>
          </a:xfrm>
          <a:prstGeom prst="rect">
            <a:avLst/>
          </a:prstGeom>
          <a:noFill/>
        </p:spPr>
        <p:txBody>
          <a:bodyPr wrap="square" rtlCol="0">
            <a:spAutoFit/>
          </a:bodyPr>
          <a:lstStyle/>
          <a:p>
            <a:r>
              <a:rPr lang="en-US" sz="1600" dirty="0">
                <a:solidFill>
                  <a:schemeClr val="tx1">
                    <a:lumMod val="75000"/>
                    <a:lumOff val="25000"/>
                  </a:schemeClr>
                </a:solidFill>
                <a:latin typeface="Anuphan" pitchFamily="2" charset="-34"/>
                <a:cs typeface="Anuphan" pitchFamily="2" charset="-34"/>
              </a:rPr>
              <a:t>made by Claude</a:t>
            </a:r>
          </a:p>
        </p:txBody>
      </p:sp>
      <p:pic>
        <p:nvPicPr>
          <p:cNvPr id="6" name="Picture 5">
            <a:extLst>
              <a:ext uri="{FF2B5EF4-FFF2-40B4-BE49-F238E27FC236}">
                <a16:creationId xmlns:a16="http://schemas.microsoft.com/office/drawing/2014/main" id="{209FC084-DA1E-E3DF-24AA-87238EBF30DD}"/>
              </a:ext>
            </a:extLst>
          </p:cNvPr>
          <p:cNvPicPr>
            <a:picLocks noChangeAspect="1"/>
          </p:cNvPicPr>
          <p:nvPr/>
        </p:nvPicPr>
        <p:blipFill>
          <a:blip r:embed="rId2"/>
          <a:stretch>
            <a:fillRect/>
          </a:stretch>
        </p:blipFill>
        <p:spPr>
          <a:xfrm>
            <a:off x="1823441" y="2233445"/>
            <a:ext cx="8545118" cy="239110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8763428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1163B-932D-16BB-F76B-31BB099B8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74D242-A8F1-A67B-82F2-5A3E0E609AFF}"/>
              </a:ext>
            </a:extLst>
          </p:cNvPr>
          <p:cNvSpPr>
            <a:spLocks noGrp="1"/>
          </p:cNvSpPr>
          <p:nvPr>
            <p:ph type="ctrTitle"/>
          </p:nvPr>
        </p:nvSpPr>
        <p:spPr>
          <a:xfrm>
            <a:off x="1052052" y="2633050"/>
            <a:ext cx="10087896" cy="1591900"/>
          </a:xfrm>
        </p:spPr>
        <p:txBody>
          <a:bodyPr>
            <a:noAutofit/>
          </a:bodyPr>
          <a:lstStyle/>
          <a:p>
            <a:pPr algn="l"/>
            <a:r>
              <a:rPr lang="en-US" sz="4800" b="1" dirty="0">
                <a:solidFill>
                  <a:schemeClr val="tx1">
                    <a:lumMod val="75000"/>
                    <a:lumOff val="25000"/>
                  </a:schemeClr>
                </a:solidFill>
                <a:latin typeface="Anuphan" pitchFamily="2" charset="-34"/>
                <a:cs typeface="Anuphan" pitchFamily="2" charset="-34"/>
              </a:rPr>
              <a:t>Machine Learning Terminology </a:t>
            </a:r>
            <a:br>
              <a:rPr lang="en-US" sz="4800" b="1" dirty="0">
                <a:solidFill>
                  <a:schemeClr val="tx1">
                    <a:lumMod val="75000"/>
                    <a:lumOff val="25000"/>
                  </a:schemeClr>
                </a:solidFill>
                <a:latin typeface="Anuphan" pitchFamily="2" charset="-34"/>
                <a:cs typeface="Anuphan" pitchFamily="2" charset="-34"/>
              </a:rPr>
            </a:br>
            <a:r>
              <a:rPr lang="en-US" sz="4800" b="1" dirty="0">
                <a:solidFill>
                  <a:schemeClr val="tx1">
                    <a:lumMod val="75000"/>
                    <a:lumOff val="25000"/>
                  </a:schemeClr>
                </a:solidFill>
                <a:latin typeface="Anuphan" pitchFamily="2" charset="-34"/>
                <a:cs typeface="Anuphan" pitchFamily="2" charset="-34"/>
              </a:rPr>
              <a:t>— Brief Explanations</a:t>
            </a:r>
          </a:p>
        </p:txBody>
      </p:sp>
    </p:spTree>
    <p:extLst>
      <p:ext uri="{BB962C8B-B14F-4D97-AF65-F5344CB8AC3E}">
        <p14:creationId xmlns:p14="http://schemas.microsoft.com/office/powerpoint/2010/main" val="33064729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1AE01-9190-B43A-F7FC-876652C62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570986-EC0B-5901-FE6F-05E69AF86490}"/>
              </a:ext>
            </a:extLst>
          </p:cNvPr>
          <p:cNvSpPr>
            <a:spLocks noGrp="1"/>
          </p:cNvSpPr>
          <p:nvPr>
            <p:ph type="ctrTitle"/>
          </p:nvPr>
        </p:nvSpPr>
        <p:spPr>
          <a:xfrm>
            <a:off x="1317523" y="983225"/>
            <a:ext cx="9556954" cy="825910"/>
          </a:xfrm>
        </p:spPr>
        <p:txBody>
          <a:bodyPr>
            <a:noAutofit/>
          </a:bodyPr>
          <a:lstStyle/>
          <a:p>
            <a:pPr algn="l"/>
            <a:r>
              <a:rPr lang="en-US" sz="3600" dirty="0">
                <a:latin typeface="Anuphan" pitchFamily="2" charset="-34"/>
                <a:cs typeface="Anuphan" pitchFamily="2" charset="-34"/>
              </a:rPr>
              <a:t>Core Problem Types</a:t>
            </a:r>
            <a:endParaRPr lang="en-US" sz="3600" b="1" dirty="0">
              <a:solidFill>
                <a:schemeClr val="tx1">
                  <a:lumMod val="75000"/>
                  <a:lumOff val="25000"/>
                </a:schemeClr>
              </a:solidFill>
              <a:latin typeface="Anuphan" pitchFamily="2" charset="-34"/>
              <a:cs typeface="Anuphan" pitchFamily="2" charset="-34"/>
            </a:endParaRPr>
          </a:p>
        </p:txBody>
      </p:sp>
      <p:pic>
        <p:nvPicPr>
          <p:cNvPr id="6" name="Picture 5">
            <a:extLst>
              <a:ext uri="{FF2B5EF4-FFF2-40B4-BE49-F238E27FC236}">
                <a16:creationId xmlns:a16="http://schemas.microsoft.com/office/drawing/2014/main" id="{38A80757-B180-404D-E2E5-34F71239E916}"/>
              </a:ext>
            </a:extLst>
          </p:cNvPr>
          <p:cNvPicPr>
            <a:picLocks noChangeAspect="1"/>
          </p:cNvPicPr>
          <p:nvPr/>
        </p:nvPicPr>
        <p:blipFill>
          <a:blip r:embed="rId2"/>
          <a:stretch>
            <a:fillRect/>
          </a:stretch>
        </p:blipFill>
        <p:spPr>
          <a:xfrm>
            <a:off x="1069582" y="2118851"/>
            <a:ext cx="10052836" cy="35838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0047473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AD18B-A423-BBB3-A73D-8F2F7414DD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6797C-7CDD-3985-7197-967270A294C0}"/>
              </a:ext>
            </a:extLst>
          </p:cNvPr>
          <p:cNvSpPr>
            <a:spLocks noGrp="1"/>
          </p:cNvSpPr>
          <p:nvPr>
            <p:ph type="ctrTitle"/>
          </p:nvPr>
        </p:nvSpPr>
        <p:spPr>
          <a:xfrm>
            <a:off x="1317523" y="983225"/>
            <a:ext cx="9556954" cy="825910"/>
          </a:xfrm>
        </p:spPr>
        <p:txBody>
          <a:bodyPr>
            <a:noAutofit/>
          </a:bodyPr>
          <a:lstStyle/>
          <a:p>
            <a:pPr algn="l"/>
            <a:r>
              <a:rPr lang="en-US" sz="3600" dirty="0">
                <a:latin typeface="Anuphan" pitchFamily="2" charset="-34"/>
                <a:cs typeface="Anuphan" pitchFamily="2" charset="-34"/>
              </a:rPr>
              <a:t>Core Problem Types</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C1FA2DCC-08E6-09FE-67D6-8DEEF146569E}"/>
              </a:ext>
            </a:extLst>
          </p:cNvPr>
          <p:cNvPicPr>
            <a:picLocks noChangeAspect="1"/>
          </p:cNvPicPr>
          <p:nvPr/>
        </p:nvPicPr>
        <p:blipFill>
          <a:blip r:embed="rId2"/>
          <a:stretch>
            <a:fillRect/>
          </a:stretch>
        </p:blipFill>
        <p:spPr>
          <a:xfrm>
            <a:off x="541749" y="2059858"/>
            <a:ext cx="11108502" cy="199103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22809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0711A-3750-ACEA-F3DB-6BA425E69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D65FEE-D0A1-960A-1419-06A3BB59A6A0}"/>
              </a:ext>
            </a:extLst>
          </p:cNvPr>
          <p:cNvSpPr>
            <a:spLocks noGrp="1"/>
          </p:cNvSpPr>
          <p:nvPr>
            <p:ph type="ctrTitle"/>
          </p:nvPr>
        </p:nvSpPr>
        <p:spPr>
          <a:xfrm>
            <a:off x="1317523" y="983225"/>
            <a:ext cx="9556954" cy="825910"/>
          </a:xfrm>
        </p:spPr>
        <p:txBody>
          <a:bodyPr>
            <a:noAutofit/>
          </a:bodyPr>
          <a:lstStyle/>
          <a:p>
            <a:pPr algn="l"/>
            <a:r>
              <a:rPr lang="en-US" sz="3600" dirty="0"/>
              <a:t>Data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5" name="Picture 4">
            <a:extLst>
              <a:ext uri="{FF2B5EF4-FFF2-40B4-BE49-F238E27FC236}">
                <a16:creationId xmlns:a16="http://schemas.microsoft.com/office/drawing/2014/main" id="{B42C6E10-32DF-7275-5C8C-32101EB1C9BE}"/>
              </a:ext>
            </a:extLst>
          </p:cNvPr>
          <p:cNvPicPr>
            <a:picLocks noChangeAspect="1"/>
          </p:cNvPicPr>
          <p:nvPr/>
        </p:nvPicPr>
        <p:blipFill>
          <a:blip r:embed="rId2"/>
          <a:stretch>
            <a:fillRect/>
          </a:stretch>
        </p:blipFill>
        <p:spPr>
          <a:xfrm>
            <a:off x="931209" y="2300746"/>
            <a:ext cx="10329582" cy="32397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988955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9DB9A-55CF-00CE-8018-55D3F8901C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912BA-4E78-E975-EAC8-1EC203A790A0}"/>
              </a:ext>
            </a:extLst>
          </p:cNvPr>
          <p:cNvSpPr>
            <a:spLocks noGrp="1"/>
          </p:cNvSpPr>
          <p:nvPr>
            <p:ph type="ctrTitle"/>
          </p:nvPr>
        </p:nvSpPr>
        <p:spPr>
          <a:xfrm>
            <a:off x="1317523" y="983225"/>
            <a:ext cx="9556954" cy="825910"/>
          </a:xfrm>
        </p:spPr>
        <p:txBody>
          <a:bodyPr>
            <a:noAutofit/>
          </a:bodyPr>
          <a:lstStyle/>
          <a:p>
            <a:pPr algn="l"/>
            <a:r>
              <a:rPr lang="en-US" sz="3600" dirty="0"/>
              <a:t>Data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195655E0-2F16-47F6-BC27-C1F4AAB29822}"/>
              </a:ext>
            </a:extLst>
          </p:cNvPr>
          <p:cNvPicPr>
            <a:picLocks noChangeAspect="1"/>
          </p:cNvPicPr>
          <p:nvPr/>
        </p:nvPicPr>
        <p:blipFill>
          <a:blip r:embed="rId2"/>
          <a:stretch>
            <a:fillRect/>
          </a:stretch>
        </p:blipFill>
        <p:spPr>
          <a:xfrm>
            <a:off x="805477" y="2059858"/>
            <a:ext cx="10581046" cy="36035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1192789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994BA-D35A-6D6B-5942-FCA542FF8F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423A8-6052-9604-B8D5-A52B9B690D51}"/>
              </a:ext>
            </a:extLst>
          </p:cNvPr>
          <p:cNvSpPr>
            <a:spLocks noGrp="1"/>
          </p:cNvSpPr>
          <p:nvPr>
            <p:ph type="ctrTitle"/>
          </p:nvPr>
        </p:nvSpPr>
        <p:spPr>
          <a:xfrm>
            <a:off x="1317523" y="983225"/>
            <a:ext cx="9556954" cy="825910"/>
          </a:xfrm>
        </p:spPr>
        <p:txBody>
          <a:bodyPr>
            <a:noAutofit/>
          </a:bodyPr>
          <a:lstStyle/>
          <a:p>
            <a:pPr algn="l"/>
            <a:r>
              <a:rPr lang="en-US" sz="3600" dirty="0"/>
              <a:t>Model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5" name="Picture 4">
            <a:extLst>
              <a:ext uri="{FF2B5EF4-FFF2-40B4-BE49-F238E27FC236}">
                <a16:creationId xmlns:a16="http://schemas.microsoft.com/office/drawing/2014/main" id="{0542F131-501E-3267-0511-2909D02A6209}"/>
              </a:ext>
            </a:extLst>
          </p:cNvPr>
          <p:cNvPicPr>
            <a:picLocks noChangeAspect="1"/>
          </p:cNvPicPr>
          <p:nvPr/>
        </p:nvPicPr>
        <p:blipFill>
          <a:blip r:embed="rId2"/>
          <a:stretch>
            <a:fillRect/>
          </a:stretch>
        </p:blipFill>
        <p:spPr>
          <a:xfrm>
            <a:off x="742672" y="2040193"/>
            <a:ext cx="10706656" cy="27776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580163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ECE9B-B5E9-F783-35F9-C8F029CA2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AE56B4-66F9-C05A-1B4D-31C4538A9307}"/>
              </a:ext>
            </a:extLst>
          </p:cNvPr>
          <p:cNvSpPr>
            <a:spLocks noGrp="1"/>
          </p:cNvSpPr>
          <p:nvPr>
            <p:ph type="ctrTitle"/>
          </p:nvPr>
        </p:nvSpPr>
        <p:spPr>
          <a:xfrm>
            <a:off x="1317523" y="983225"/>
            <a:ext cx="9556954" cy="825910"/>
          </a:xfrm>
        </p:spPr>
        <p:txBody>
          <a:bodyPr>
            <a:noAutofit/>
          </a:bodyPr>
          <a:lstStyle/>
          <a:p>
            <a:pPr algn="l"/>
            <a:r>
              <a:rPr lang="en-US" sz="3600" dirty="0"/>
              <a:t>Algorithm Names</a:t>
            </a:r>
            <a:endParaRPr lang="en-US" sz="3600" b="1" dirty="0">
              <a:solidFill>
                <a:schemeClr val="tx1">
                  <a:lumMod val="75000"/>
                  <a:lumOff val="25000"/>
                </a:schemeClr>
              </a:solidFill>
              <a:latin typeface="Anuphan" pitchFamily="2" charset="-34"/>
              <a:cs typeface="Anuphan" pitchFamily="2" charset="-34"/>
            </a:endParaRPr>
          </a:p>
        </p:txBody>
      </p:sp>
      <p:pic>
        <p:nvPicPr>
          <p:cNvPr id="7" name="Picture 6">
            <a:extLst>
              <a:ext uri="{FF2B5EF4-FFF2-40B4-BE49-F238E27FC236}">
                <a16:creationId xmlns:a16="http://schemas.microsoft.com/office/drawing/2014/main" id="{F55B2BB8-4F19-C4FB-68A0-D713352F43F5}"/>
              </a:ext>
            </a:extLst>
          </p:cNvPr>
          <p:cNvPicPr>
            <a:picLocks noChangeAspect="1"/>
          </p:cNvPicPr>
          <p:nvPr/>
        </p:nvPicPr>
        <p:blipFill>
          <a:blip r:embed="rId2"/>
          <a:stretch>
            <a:fillRect/>
          </a:stretch>
        </p:blipFill>
        <p:spPr>
          <a:xfrm>
            <a:off x="943538" y="2054944"/>
            <a:ext cx="10304924" cy="299392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9929426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41E6B-136E-9E97-4882-6A700E039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12475-EE30-EE21-BBDC-2503E13B35A9}"/>
              </a:ext>
            </a:extLst>
          </p:cNvPr>
          <p:cNvSpPr>
            <a:spLocks noGrp="1"/>
          </p:cNvSpPr>
          <p:nvPr>
            <p:ph type="ctrTitle"/>
          </p:nvPr>
        </p:nvSpPr>
        <p:spPr>
          <a:xfrm>
            <a:off x="1317523" y="983225"/>
            <a:ext cx="9556954" cy="825910"/>
          </a:xfrm>
        </p:spPr>
        <p:txBody>
          <a:bodyPr>
            <a:noAutofit/>
          </a:bodyPr>
          <a:lstStyle/>
          <a:p>
            <a:pPr algn="l"/>
            <a:r>
              <a:rPr lang="en-US" sz="3600" dirty="0"/>
              <a:t>Algorithm Names</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18500248-C259-9146-5A91-148A2A87BF35}"/>
              </a:ext>
            </a:extLst>
          </p:cNvPr>
          <p:cNvPicPr>
            <a:picLocks noChangeAspect="1"/>
          </p:cNvPicPr>
          <p:nvPr/>
        </p:nvPicPr>
        <p:blipFill>
          <a:blip r:embed="rId2"/>
          <a:stretch>
            <a:fillRect/>
          </a:stretch>
        </p:blipFill>
        <p:spPr>
          <a:xfrm>
            <a:off x="398349" y="2271255"/>
            <a:ext cx="11395302" cy="26497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93634021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084AB-705A-E22E-0BCC-92E07F752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CC4A9-54D6-A829-FE10-172D06BAB3E1}"/>
              </a:ext>
            </a:extLst>
          </p:cNvPr>
          <p:cNvSpPr>
            <a:spLocks noGrp="1"/>
          </p:cNvSpPr>
          <p:nvPr>
            <p:ph type="ctrTitle"/>
          </p:nvPr>
        </p:nvSpPr>
        <p:spPr>
          <a:xfrm>
            <a:off x="1317523" y="983225"/>
            <a:ext cx="9556954" cy="825910"/>
          </a:xfrm>
        </p:spPr>
        <p:txBody>
          <a:bodyPr>
            <a:noAutofit/>
          </a:bodyPr>
          <a:lstStyle/>
          <a:p>
            <a:pPr algn="l"/>
            <a:r>
              <a:rPr lang="en-US" sz="3600" dirty="0"/>
              <a:t>Evaluation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5" name="Picture 4">
            <a:extLst>
              <a:ext uri="{FF2B5EF4-FFF2-40B4-BE49-F238E27FC236}">
                <a16:creationId xmlns:a16="http://schemas.microsoft.com/office/drawing/2014/main" id="{BFC79C91-0F5D-3D22-29F0-41B8E33DE41F}"/>
              </a:ext>
            </a:extLst>
          </p:cNvPr>
          <p:cNvPicPr>
            <a:picLocks noChangeAspect="1"/>
          </p:cNvPicPr>
          <p:nvPr/>
        </p:nvPicPr>
        <p:blipFill>
          <a:blip r:embed="rId2"/>
          <a:stretch>
            <a:fillRect/>
          </a:stretch>
        </p:blipFill>
        <p:spPr>
          <a:xfrm>
            <a:off x="1458011" y="2035275"/>
            <a:ext cx="9275978" cy="32397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384334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92FC9-10A4-ADA3-B986-9AEB3B85D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41468F-79C6-9447-73B5-661BA4C86449}"/>
              </a:ext>
            </a:extLst>
          </p:cNvPr>
          <p:cNvSpPr>
            <a:spLocks noGrp="1"/>
          </p:cNvSpPr>
          <p:nvPr>
            <p:ph type="ctrTitle"/>
          </p:nvPr>
        </p:nvSpPr>
        <p:spPr>
          <a:xfrm>
            <a:off x="1317523" y="983225"/>
            <a:ext cx="9556954" cy="825910"/>
          </a:xfrm>
        </p:spPr>
        <p:txBody>
          <a:bodyPr>
            <a:noAutofit/>
          </a:bodyPr>
          <a:lstStyle/>
          <a:p>
            <a:pPr algn="l"/>
            <a:r>
              <a:rPr lang="en-US" sz="3600" dirty="0"/>
              <a:t>Evaluation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B761AA5D-623D-AD24-106A-8B4EBB5DD3F4}"/>
              </a:ext>
            </a:extLst>
          </p:cNvPr>
          <p:cNvPicPr>
            <a:picLocks noChangeAspect="1"/>
          </p:cNvPicPr>
          <p:nvPr/>
        </p:nvPicPr>
        <p:blipFill>
          <a:blip r:embed="rId2"/>
          <a:stretch>
            <a:fillRect/>
          </a:stretch>
        </p:blipFill>
        <p:spPr>
          <a:xfrm>
            <a:off x="1241187" y="2251587"/>
            <a:ext cx="9709626" cy="23548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1746696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BC76E-128B-206F-41D4-C636F21DC1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7C135-E9DF-059C-4CCF-59A300E37702}"/>
              </a:ext>
            </a:extLst>
          </p:cNvPr>
          <p:cNvSpPr>
            <a:spLocks noGrp="1"/>
          </p:cNvSpPr>
          <p:nvPr>
            <p:ph type="ctrTitle"/>
          </p:nvPr>
        </p:nvSpPr>
        <p:spPr>
          <a:xfrm>
            <a:off x="1317523" y="983225"/>
            <a:ext cx="9556954" cy="825910"/>
          </a:xfrm>
        </p:spPr>
        <p:txBody>
          <a:bodyPr>
            <a:noAutofit/>
          </a:bodyPr>
          <a:lstStyle/>
          <a:p>
            <a:pPr algn="l"/>
            <a:r>
              <a:rPr lang="en-US" sz="3600" dirty="0"/>
              <a:t>Hyperparameter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5" name="Picture 4">
            <a:extLst>
              <a:ext uri="{FF2B5EF4-FFF2-40B4-BE49-F238E27FC236}">
                <a16:creationId xmlns:a16="http://schemas.microsoft.com/office/drawing/2014/main" id="{4EBA5318-45F7-F7BC-8B00-C79958625993}"/>
              </a:ext>
            </a:extLst>
          </p:cNvPr>
          <p:cNvPicPr>
            <a:picLocks noChangeAspect="1"/>
          </p:cNvPicPr>
          <p:nvPr/>
        </p:nvPicPr>
        <p:blipFill>
          <a:blip r:embed="rId2"/>
          <a:stretch>
            <a:fillRect/>
          </a:stretch>
        </p:blipFill>
        <p:spPr>
          <a:xfrm>
            <a:off x="845712" y="2163098"/>
            <a:ext cx="10500576" cy="25318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857177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703C-EF8F-F0D8-3C9B-91D9E34CD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6B4B48-82A5-9C3E-F467-0B2CFCA54BAC}"/>
              </a:ext>
            </a:extLst>
          </p:cNvPr>
          <p:cNvSpPr>
            <a:spLocks noGrp="1"/>
          </p:cNvSpPr>
          <p:nvPr>
            <p:ph type="ctrTitle"/>
          </p:nvPr>
        </p:nvSpPr>
        <p:spPr>
          <a:xfrm>
            <a:off x="1317523" y="983225"/>
            <a:ext cx="9556954" cy="825910"/>
          </a:xfrm>
        </p:spPr>
        <p:txBody>
          <a:bodyPr>
            <a:noAutofit/>
          </a:bodyPr>
          <a:lstStyle/>
          <a:p>
            <a:pPr algn="l"/>
            <a:r>
              <a:rPr lang="en-US" sz="3600" dirty="0"/>
              <a:t>Hyperparameter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A4F35E70-53E0-DA89-137C-DB3238B2C16B}"/>
              </a:ext>
            </a:extLst>
          </p:cNvPr>
          <p:cNvPicPr>
            <a:picLocks noChangeAspect="1"/>
          </p:cNvPicPr>
          <p:nvPr/>
        </p:nvPicPr>
        <p:blipFill>
          <a:blip r:embed="rId2"/>
          <a:stretch>
            <a:fillRect/>
          </a:stretch>
        </p:blipFill>
        <p:spPr>
          <a:xfrm>
            <a:off x="796413" y="2164191"/>
            <a:ext cx="10599174" cy="14873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868401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0603-C03F-8C66-627D-F9E9FA792F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9CD38-CDA2-7EEE-54CB-D62083B9C1EB}"/>
              </a:ext>
            </a:extLst>
          </p:cNvPr>
          <p:cNvSpPr>
            <a:spLocks noGrp="1"/>
          </p:cNvSpPr>
          <p:nvPr>
            <p:ph type="ctrTitle"/>
          </p:nvPr>
        </p:nvSpPr>
        <p:spPr>
          <a:xfrm>
            <a:off x="1317523" y="983225"/>
            <a:ext cx="9556954" cy="825910"/>
          </a:xfrm>
        </p:spPr>
        <p:txBody>
          <a:bodyPr>
            <a:noAutofit/>
          </a:bodyPr>
          <a:lstStyle/>
          <a:p>
            <a:pPr algn="l"/>
            <a:r>
              <a:rPr lang="en-US" sz="3600" dirty="0"/>
              <a:t>Preprocessing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5" name="Picture 4">
            <a:extLst>
              <a:ext uri="{FF2B5EF4-FFF2-40B4-BE49-F238E27FC236}">
                <a16:creationId xmlns:a16="http://schemas.microsoft.com/office/drawing/2014/main" id="{35D2C98F-C78E-C4C7-D7CC-5C6DA313142C}"/>
              </a:ext>
            </a:extLst>
          </p:cNvPr>
          <p:cNvPicPr>
            <a:picLocks noChangeAspect="1"/>
          </p:cNvPicPr>
          <p:nvPr/>
        </p:nvPicPr>
        <p:blipFill>
          <a:blip r:embed="rId2"/>
          <a:stretch>
            <a:fillRect/>
          </a:stretch>
        </p:blipFill>
        <p:spPr>
          <a:xfrm>
            <a:off x="626557" y="2349910"/>
            <a:ext cx="10938886" cy="21581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3804197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B27B-B8F3-8B1D-77E2-248D52C34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7E80E-8ABC-0A71-3286-F5F4FF13C843}"/>
              </a:ext>
            </a:extLst>
          </p:cNvPr>
          <p:cNvSpPr>
            <a:spLocks noGrp="1"/>
          </p:cNvSpPr>
          <p:nvPr>
            <p:ph type="ctrTitle"/>
          </p:nvPr>
        </p:nvSpPr>
        <p:spPr>
          <a:xfrm>
            <a:off x="1317523" y="983225"/>
            <a:ext cx="9556954" cy="825910"/>
          </a:xfrm>
        </p:spPr>
        <p:txBody>
          <a:bodyPr>
            <a:noAutofit/>
          </a:bodyPr>
          <a:lstStyle/>
          <a:p>
            <a:pPr algn="l"/>
            <a:r>
              <a:rPr lang="en-US" sz="3600" dirty="0"/>
              <a:t>Preprocessing Terminology</a:t>
            </a:r>
            <a:endParaRPr lang="en-US" sz="3600" b="1" dirty="0">
              <a:solidFill>
                <a:schemeClr val="tx1">
                  <a:lumMod val="75000"/>
                  <a:lumOff val="25000"/>
                </a:schemeClr>
              </a:solidFill>
              <a:latin typeface="Anuphan" pitchFamily="2" charset="-34"/>
              <a:cs typeface="Anuphan" pitchFamily="2" charset="-34"/>
            </a:endParaRPr>
          </a:p>
        </p:txBody>
      </p:sp>
      <p:pic>
        <p:nvPicPr>
          <p:cNvPr id="4" name="Picture 3">
            <a:extLst>
              <a:ext uri="{FF2B5EF4-FFF2-40B4-BE49-F238E27FC236}">
                <a16:creationId xmlns:a16="http://schemas.microsoft.com/office/drawing/2014/main" id="{44A29343-404D-73C2-1E0D-4E3B752B69CE}"/>
              </a:ext>
            </a:extLst>
          </p:cNvPr>
          <p:cNvPicPr>
            <a:picLocks noChangeAspect="1"/>
          </p:cNvPicPr>
          <p:nvPr/>
        </p:nvPicPr>
        <p:blipFill>
          <a:blip r:embed="rId2"/>
          <a:stretch>
            <a:fillRect/>
          </a:stretch>
        </p:blipFill>
        <p:spPr>
          <a:xfrm>
            <a:off x="936042" y="2113935"/>
            <a:ext cx="10319916" cy="263013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014208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D45A6-9986-DEBD-5C87-61B069A781F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1CD92F8-E56A-C703-5924-21935E6B551D}"/>
              </a:ext>
            </a:extLst>
          </p:cNvPr>
          <p:cNvPicPr>
            <a:picLocks noChangeAspect="1"/>
          </p:cNvPicPr>
          <p:nvPr/>
        </p:nvPicPr>
        <p:blipFill>
          <a:blip r:embed="rId2"/>
          <a:stretch>
            <a:fillRect/>
          </a:stretch>
        </p:blipFill>
        <p:spPr>
          <a:xfrm>
            <a:off x="688421" y="2684207"/>
            <a:ext cx="10815158" cy="14895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4863117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2452</Words>
  <Application>Microsoft Office PowerPoint</Application>
  <PresentationFormat>Widescreen</PresentationFormat>
  <Paragraphs>274</Paragraphs>
  <Slides>91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91</vt:i4>
      </vt:variant>
    </vt:vector>
  </HeadingPairs>
  <TitlesOfParts>
    <vt:vector size="96" baseType="lpstr">
      <vt:lpstr>Aptos Display</vt:lpstr>
      <vt:lpstr>Anuphan</vt:lpstr>
      <vt:lpstr>Arial</vt:lpstr>
      <vt:lpstr>Aptos</vt:lpstr>
      <vt:lpstr>Office Theme</vt:lpstr>
      <vt:lpstr>Data Science</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Data Preparation for Machine Learning</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Using ML/DL in Scikit-Learn</vt:lpstr>
      <vt:lpstr>An Example of Data Preparation for ML</vt:lpstr>
      <vt:lpstr>An Example of Data Preparation for ML</vt:lpstr>
      <vt:lpstr>An Example of Data Preparation for ML</vt:lpstr>
      <vt:lpstr>An Example of Data Preparation for ML</vt:lpstr>
      <vt:lpstr>An Example of Data Preparation for ML</vt:lpstr>
      <vt:lpstr>PowerPoint Presentation</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An Example of Data Preparation for ML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Using Machine Learning Model</vt:lpstr>
      <vt:lpstr>Machine Learning Terminology  — Brief Explanations</vt:lpstr>
      <vt:lpstr>Core Problem Types</vt:lpstr>
      <vt:lpstr>Core Problem Types</vt:lpstr>
      <vt:lpstr>Data Terminology</vt:lpstr>
      <vt:lpstr>Data Terminology</vt:lpstr>
      <vt:lpstr>Model Terminology</vt:lpstr>
      <vt:lpstr>Algorithm Names</vt:lpstr>
      <vt:lpstr>Algorithm Names</vt:lpstr>
      <vt:lpstr>Evaluation Terminology</vt:lpstr>
      <vt:lpstr>Evaluation Terminology</vt:lpstr>
      <vt:lpstr>Hyperparameter Terminology</vt:lpstr>
      <vt:lpstr>Hyperparameter Terminology</vt:lpstr>
      <vt:lpstr>Preprocessing Terminology</vt:lpstr>
      <vt:lpstr>Preprocessing Terminology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Kritsada Chan-inn</dc:creator>
  <cp:lastModifiedBy>Kritsada Chan-inn</cp:lastModifiedBy>
  <cp:revision>47</cp:revision>
  <dcterms:created xsi:type="dcterms:W3CDTF">2026-04-14T10:12:16Z</dcterms:created>
  <dcterms:modified xsi:type="dcterms:W3CDTF">2026-04-17T15:53:40Z</dcterms:modified>
</cp:coreProperties>
</file>